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Johnny — Jeng-lin Li — from HKUST(GZ). This is my Individual Ideation assignment. I'll propose a system that replaces today's email-based short-term leave with one policy-driven platform for universities.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asking for two days off is an email exercise. Students email each instructor separately, attach the same medical certificate several times, and negotiate each assessment individually. The programme office sees nothing; when a dispute arises, the Registry has no record.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SAAS replaces the email ritual with one submission. The technologies are all mature; the new thing is the information design. Unit of work is not the request but its consequence. Policy lives in Registry-owned configuration. And privacy is structural — instructors see the accommodation to apply, never the medical reason or certificate behind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diagram: student submits one form → the system resolves enrolments against the assessment calendar and creates one conflict record per affected assessment → the request routes by policy through Case A, B or C → instructor picks one of 5 accommodations per conflict → the student sees every outcome in one timeline. Every step is audited.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routing cases, all driven by configuration rather than code. Case A: medical → affected instructors. Case B: official activity → roster auto-verified, instructors notified only — the highest priority lane and no document required. Case C: any absence over seven days must pass the programme office and the Registry before instructors act.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 Teece's complements argument. SAAS value is almost entirely co-produced. Without the assessment calendar, conflict detection is guesswork. Without campus SSO, adoption collapses. Without email and Teams delivery, decisions stall. Without Registry-owned configuration, the system fossilises. The hard work is securing the complements, not writing the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 the S-curve. Rule-based workflow automation sits on the flat, mature part of its curve — competing on form features yields diminishing returns. SAAS matters only by starting a new curve. The same logic explains why MVP deliberately excludes AI triage: it sits on the steep part of the LLM curve, where reliability is still improving, and a wrong automated decision in a high-stakes academic process is unacceptable.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customer and payer is the university, not the student — Registry and IT buying an annual licence sized by student population. The value is that it makes an unmeasured cost measurable: instructor hours, dispute effort, compliance risk. Differentiator is the policy-configuration layer plus portability — one product, multiple institutions, different thresholds.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positive impact is equity. Today the outcome depends on which instructor you ask and how persuasive your email is; a policy-driven process replaces discretion with consistent rules. But gains are uneven — need an assisted non-digital route. And a complete absence record is also a surveillance instrument. Mitigations are built in: instructors never see medical reasons; every decision stays human; AI is advisory, logged and refusable.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Yes, develop further as a team project, but narrowed. The problem is real and bounded, the complements already exist on campus, and its hardest questions are organisational rather than technical — a genuine test of collaborative innovation. I'd scope the team project to the assessment-conflict workflow, where both the value and the privacy tension are sharpest.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035040"/>
            <a:ext cx="12191695" cy="82296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6199632"/>
            <a:ext cx="146304"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822960"/>
            <a:ext cx="10972800" cy="457200"/>
          </a:xfrm>
          <a:prstGeom prst="rect">
            <a:avLst/>
          </a:prstGeom>
          <a:noFill/>
        </p:spPr>
        <p:txBody>
          <a:bodyPr wrap="square" anchor="t" lIns="45720" rIns="45720">
            <a:spAutoFit/>
          </a:bodyPr>
          <a:lstStyle/>
          <a:p>
            <a:pPr algn="l"/>
            <a:r>
              <a:rPr sz="1100" b="1">
                <a:solidFill>
                  <a:srgbClr val="6B6B6B"/>
                </a:solidFill>
                <a:latin typeface="Calibri"/>
              </a:rPr>
              <a:t>INDIVIDUAL IDEATION ASSIGNMENT</a:t>
            </a:r>
          </a:p>
        </p:txBody>
      </p:sp>
      <p:sp>
        <p:nvSpPr>
          <p:cNvPr id="6" name="TextBox 5"/>
          <p:cNvSpPr txBox="1"/>
          <p:nvPr/>
        </p:nvSpPr>
        <p:spPr>
          <a:xfrm>
            <a:off x="411480" y="1234440"/>
            <a:ext cx="11338560" cy="914400"/>
          </a:xfrm>
          <a:prstGeom prst="rect">
            <a:avLst/>
          </a:prstGeom>
          <a:noFill/>
        </p:spPr>
        <p:txBody>
          <a:bodyPr wrap="square" anchor="t" lIns="45720" rIns="45720">
            <a:spAutoFit/>
          </a:bodyPr>
          <a:lstStyle/>
          <a:p>
            <a:pPr algn="l"/>
            <a:r>
              <a:rPr sz="3000" b="1">
                <a:solidFill>
                  <a:srgbClr val="201F1E"/>
                </a:solidFill>
                <a:latin typeface="Calibri"/>
              </a:rPr>
              <a:t>SAAS — A Student Absence &amp; Academic Accommodation System</a:t>
            </a:r>
          </a:p>
        </p:txBody>
      </p:sp>
      <p:sp>
        <p:nvSpPr>
          <p:cNvPr id="7" name="TextBox 6"/>
          <p:cNvSpPr txBox="1"/>
          <p:nvPr/>
        </p:nvSpPr>
        <p:spPr>
          <a:xfrm>
            <a:off x="411480" y="2103120"/>
            <a:ext cx="10972800" cy="457200"/>
          </a:xfrm>
          <a:prstGeom prst="rect">
            <a:avLst/>
          </a:prstGeom>
          <a:noFill/>
        </p:spPr>
        <p:txBody>
          <a:bodyPr wrap="square" anchor="t" lIns="45720" rIns="45720">
            <a:spAutoFit/>
          </a:bodyPr>
          <a:lstStyle/>
          <a:p>
            <a:pPr algn="l"/>
            <a:r>
              <a:rPr sz="1400" b="0">
                <a:solidFill>
                  <a:srgbClr val="6B6B6B"/>
                </a:solidFill>
                <a:latin typeface="Calibri"/>
              </a:rPr>
              <a:t>Replacing email-based absence with one policy-driven platform for universities</a:t>
            </a:r>
          </a:p>
        </p:txBody>
      </p:sp>
      <p:sp>
        <p:nvSpPr>
          <p:cNvPr id="8" name="Rectangle 7"/>
          <p:cNvSpPr/>
          <p:nvPr/>
        </p:nvSpPr>
        <p:spPr>
          <a:xfrm>
            <a:off x="411480" y="2926080"/>
            <a:ext cx="2651760" cy="82296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3017520"/>
            <a:ext cx="2651760" cy="457200"/>
          </a:xfrm>
          <a:prstGeom prst="rect">
            <a:avLst/>
          </a:prstGeom>
          <a:noFill/>
        </p:spPr>
        <p:txBody>
          <a:bodyPr wrap="square" anchor="t" lIns="45720" rIns="45720">
            <a:spAutoFit/>
          </a:bodyPr>
          <a:lstStyle/>
          <a:p>
            <a:pPr algn="ctr"/>
            <a:r>
              <a:rPr sz="1400" b="1">
                <a:solidFill>
                  <a:srgbClr val="FFFFFF"/>
                </a:solidFill>
                <a:latin typeface="Calibri"/>
              </a:rPr>
              <a:t>9 user roles</a:t>
            </a:r>
          </a:p>
        </p:txBody>
      </p:sp>
      <p:sp>
        <p:nvSpPr>
          <p:cNvPr id="10" name="Rectangle 9"/>
          <p:cNvSpPr/>
          <p:nvPr/>
        </p:nvSpPr>
        <p:spPr>
          <a:xfrm>
            <a:off x="3337560" y="2926080"/>
            <a:ext cx="2651760" cy="822960"/>
          </a:xfrm>
          <a:prstGeom prst="rect">
            <a:avLst/>
          </a:prstGeom>
          <a:solidFill>
            <a:srgbClr val="0E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3017520"/>
            <a:ext cx="2651760" cy="457200"/>
          </a:xfrm>
          <a:prstGeom prst="rect">
            <a:avLst/>
          </a:prstGeom>
          <a:noFill/>
        </p:spPr>
        <p:txBody>
          <a:bodyPr wrap="square" anchor="t" lIns="45720" rIns="45720">
            <a:spAutoFit/>
          </a:bodyPr>
          <a:lstStyle/>
          <a:p>
            <a:pPr algn="ctr"/>
            <a:r>
              <a:rPr sz="1400" b="1">
                <a:solidFill>
                  <a:srgbClr val="FFFFFF"/>
                </a:solidFill>
                <a:latin typeface="Calibri"/>
              </a:rPr>
              <a:t>9 leave categories</a:t>
            </a:r>
          </a:p>
        </p:txBody>
      </p:sp>
      <p:sp>
        <p:nvSpPr>
          <p:cNvPr id="12" name="Rectangle 11"/>
          <p:cNvSpPr/>
          <p:nvPr/>
        </p:nvSpPr>
        <p:spPr>
          <a:xfrm>
            <a:off x="6263640" y="2926080"/>
            <a:ext cx="2651760" cy="822960"/>
          </a:xfrm>
          <a:prstGeom prst="rect">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3017520"/>
            <a:ext cx="2651760" cy="457200"/>
          </a:xfrm>
          <a:prstGeom prst="rect">
            <a:avLst/>
          </a:prstGeom>
          <a:noFill/>
        </p:spPr>
        <p:txBody>
          <a:bodyPr wrap="square" anchor="t" lIns="45720" rIns="45720">
            <a:spAutoFit/>
          </a:bodyPr>
          <a:lstStyle/>
          <a:p>
            <a:pPr algn="ctr"/>
            <a:r>
              <a:rPr sz="1400" b="1">
                <a:solidFill>
                  <a:srgbClr val="FFFFFF"/>
                </a:solidFill>
                <a:latin typeface="Calibri"/>
              </a:rPr>
              <a:t>5 instructor accommodations</a:t>
            </a:r>
          </a:p>
        </p:txBody>
      </p:sp>
      <p:sp>
        <p:nvSpPr>
          <p:cNvPr id="14" name="Rectangle 13"/>
          <p:cNvSpPr/>
          <p:nvPr/>
        </p:nvSpPr>
        <p:spPr>
          <a:xfrm>
            <a:off x="9189720" y="2926080"/>
            <a:ext cx="2651760" cy="82296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3017520"/>
            <a:ext cx="2651760" cy="457200"/>
          </a:xfrm>
          <a:prstGeom prst="rect">
            <a:avLst/>
          </a:prstGeom>
          <a:noFill/>
        </p:spPr>
        <p:txBody>
          <a:bodyPr wrap="square" anchor="t" lIns="45720" rIns="45720">
            <a:spAutoFit/>
          </a:bodyPr>
          <a:lstStyle/>
          <a:p>
            <a:pPr algn="ctr"/>
            <a:r>
              <a:rPr sz="1400" b="1">
                <a:solidFill>
                  <a:srgbClr val="FFFFFF"/>
                </a:solidFill>
                <a:latin typeface="Calibri"/>
              </a:rPr>
              <a:t>3 routing cases</a:t>
            </a:r>
          </a:p>
        </p:txBody>
      </p:sp>
      <p:sp>
        <p:nvSpPr>
          <p:cNvPr id="16" name="TextBox 15"/>
          <p:cNvSpPr txBox="1"/>
          <p:nvPr/>
        </p:nvSpPr>
        <p:spPr>
          <a:xfrm>
            <a:off x="411480" y="4206240"/>
            <a:ext cx="10972800" cy="320040"/>
          </a:xfrm>
          <a:prstGeom prst="rect">
            <a:avLst/>
          </a:prstGeom>
          <a:noFill/>
        </p:spPr>
        <p:txBody>
          <a:bodyPr wrap="square" anchor="t" lIns="45720" rIns="45720">
            <a:spAutoFit/>
          </a:bodyPr>
          <a:lstStyle/>
          <a:p>
            <a:pPr algn="l"/>
            <a:r>
              <a:rPr sz="1400" b="0">
                <a:solidFill>
                  <a:srgbClr val="201F1E"/>
                </a:solidFill>
                <a:latin typeface="Calibri"/>
              </a:rPr>
              <a:t>Johnny, Jeng-lin Li · HKUST(GZ)</a:t>
            </a:r>
          </a:p>
        </p:txBody>
      </p:sp>
      <p:sp>
        <p:nvSpPr>
          <p:cNvPr id="17" name="TextBox 16"/>
          <p:cNvSpPr txBox="1"/>
          <p:nvPr/>
        </p:nvSpPr>
        <p:spPr>
          <a:xfrm>
            <a:off x="411480" y="4572000"/>
            <a:ext cx="10972800" cy="274320"/>
          </a:xfrm>
          <a:prstGeom prst="rect">
            <a:avLst/>
          </a:prstGeom>
          <a:noFill/>
        </p:spPr>
        <p:txBody>
          <a:bodyPr wrap="square" anchor="t" lIns="45720" rIns="45720">
            <a:spAutoFit/>
          </a:bodyPr>
          <a:lstStyle/>
          <a:p>
            <a:pPr algn="l"/>
            <a:r>
              <a:rPr sz="1100" b="0">
                <a:solidFill>
                  <a:srgbClr val="6B6B6B"/>
                </a:solidFill>
                <a:latin typeface="Calibri"/>
              </a:rPr>
              <a:t>Sept 2026 · ≈ 1,610 words + 1 figure + 8 references</a:t>
            </a:r>
          </a:p>
        </p:txBody>
      </p:sp>
      <p:sp>
        <p:nvSpPr>
          <p:cNvPr id="18" name="TextBox 17"/>
          <p:cNvSpPr txBox="1"/>
          <p:nvPr/>
        </p:nvSpPr>
        <p:spPr>
          <a:xfrm>
            <a:off x="411480" y="6172200"/>
            <a:ext cx="10058400" cy="411480"/>
          </a:xfrm>
          <a:prstGeom prst="rect">
            <a:avLst/>
          </a:prstGeom>
          <a:noFill/>
        </p:spPr>
        <p:txBody>
          <a:bodyPr wrap="square" anchor="t" lIns="45720" rIns="45720">
            <a:spAutoFit/>
          </a:bodyPr>
          <a:lstStyle/>
          <a:p>
            <a:pPr algn="l"/>
            <a:r>
              <a:rPr sz="1000" b="0">
                <a:solidFill>
                  <a:srgbClr val="FFFFFF"/>
                </a:solidFill>
                <a:latin typeface="Calibri"/>
              </a:rPr>
              <a:t>For the SAAS design package: see /saas/index.html  ·  Flask prototype: http://127.0.0.1:5055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10896"/>
            <a:ext cx="164592" cy="3840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457200"/>
          </a:xfrm>
          <a:prstGeom prst="rect">
            <a:avLst/>
          </a:prstGeom>
          <a:noFill/>
        </p:spPr>
        <p:txBody>
          <a:bodyPr wrap="square" anchor="t" lIns="45720" rIns="45720">
            <a:spAutoFit/>
          </a:bodyPr>
          <a:lstStyle/>
          <a:p>
            <a:pPr algn="l"/>
            <a:r>
              <a:rPr sz="2200" b="1">
                <a:solidFill>
                  <a:srgbClr val="201F1E"/>
                </a:solidFill>
                <a:latin typeface="Calibri"/>
              </a:rPr>
              <a:t>1 · Problem</a:t>
            </a:r>
          </a:p>
        </p:txBody>
      </p:sp>
      <p:sp>
        <p:nvSpPr>
          <p:cNvPr id="4" name="TextBox 3"/>
          <p:cNvSpPr txBox="1"/>
          <p:nvPr/>
        </p:nvSpPr>
        <p:spPr>
          <a:xfrm>
            <a:off x="640080" y="713232"/>
            <a:ext cx="10972800" cy="292608"/>
          </a:xfrm>
          <a:prstGeom prst="rect">
            <a:avLst/>
          </a:prstGeom>
          <a:noFill/>
        </p:spPr>
        <p:txBody>
          <a:bodyPr wrap="square" anchor="t" lIns="45720" rIns="45720">
            <a:spAutoFit/>
          </a:bodyPr>
          <a:lstStyle/>
          <a:p>
            <a:pPr algn="l"/>
            <a:r>
              <a:rPr sz="1100" b="0">
                <a:solidFill>
                  <a:srgbClr val="6B6B6B"/>
                </a:solidFill>
                <a:latin typeface="Calibri"/>
              </a:rPr>
              <a:t>Today, asking for two days off is an email exercise</a:t>
            </a:r>
          </a:p>
        </p:txBody>
      </p:sp>
      <p:sp>
        <p:nvSpPr>
          <p:cNvPr id="5" name="Rectangle 4"/>
          <p:cNvSpPr/>
          <p:nvPr/>
        </p:nvSpPr>
        <p:spPr>
          <a:xfrm>
            <a:off x="411480" y="1051560"/>
            <a:ext cx="11475720" cy="18288"/>
          </a:xfrm>
          <a:prstGeom prst="rect">
            <a:avLst/>
          </a:prstGeom>
          <a:solidFill>
            <a:srgbClr val="E1D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25880"/>
            <a:ext cx="5669280" cy="4754880"/>
          </a:xfrm>
          <a:prstGeom prst="rect">
            <a:avLst/>
          </a:prstGeom>
          <a:noFill/>
        </p:spPr>
        <p:txBody>
          <a:bodyPr wrap="square">
            <a:spAutoFit/>
          </a:bodyPr>
          <a:lstStyle/>
          <a:p>
            <a:pPr algn="l">
              <a:lnSpc>
                <a:spcPct val="130000"/>
              </a:lnSpc>
              <a:spcAft>
                <a:spcPts val="600"/>
              </a:spcAft>
            </a:pPr>
            <a:r>
              <a:rPr sz="1300">
                <a:solidFill>
                  <a:srgbClr val="201F1E"/>
                </a:solidFill>
                <a:latin typeface="Calibri"/>
              </a:rPr>
              <a:t>• A student emails every instructor separately, attaches the same certificate several times, and negotiates each quiz / lab individually.</a:t>
            </a:r>
          </a:p>
          <a:p>
            <a:pPr algn="l">
              <a:lnSpc>
                <a:spcPct val="130000"/>
              </a:lnSpc>
              <a:spcAft>
                <a:spcPts val="600"/>
              </a:spcAft>
            </a:pPr>
            <a:r>
              <a:rPr sz="1300">
                <a:solidFill>
                  <a:srgbClr val="201F1E"/>
                </a:solidFill>
                <a:latin typeface="Calibri"/>
              </a:rPr>
              <a:t>• Each instructor improvises a reply — the programme office sees nothing; when a dispute arises, the Registry has no record of what was agreed.</a:t>
            </a:r>
          </a:p>
          <a:p>
            <a:pPr algn="l">
              <a:lnSpc>
                <a:spcPct val="130000"/>
              </a:lnSpc>
              <a:spcAft>
                <a:spcPts val="600"/>
              </a:spcAft>
            </a:pPr>
            <a:r>
              <a:rPr sz="1300">
                <a:solidFill>
                  <a:srgbClr val="201F1E"/>
                </a:solidFill>
                <a:latin typeface="Calibri"/>
              </a:rPr>
              <a:t>• Students face unpredictable outcomes and repeat private disclosures to people they barely know.</a:t>
            </a:r>
          </a:p>
          <a:p>
            <a:pPr algn="l">
              <a:lnSpc>
                <a:spcPct val="130000"/>
              </a:lnSpc>
              <a:spcAft>
                <a:spcPts val="600"/>
              </a:spcAft>
            </a:pPr>
            <a:r>
              <a:rPr sz="1300">
                <a:solidFill>
                  <a:srgbClr val="201F1E"/>
                </a:solidFill>
                <a:latin typeface="Calibri"/>
              </a:rPr>
              <a:t>• Instructors decide without context — they cannot see that the same student has already missed four sessions this term.</a:t>
            </a:r>
          </a:p>
          <a:p>
            <a:pPr algn="l">
              <a:lnSpc>
                <a:spcPct val="130000"/>
              </a:lnSpc>
              <a:spcAft>
                <a:spcPts val="600"/>
              </a:spcAft>
            </a:pPr>
            <a:r>
              <a:rPr sz="1300">
                <a:solidFill>
                  <a:srgbClr val="201F1E"/>
                </a:solidFill>
                <a:latin typeface="Calibri"/>
              </a:rPr>
              <a:t>• Programme offices and the Registry have no visibility, no audit trail, and no way to notice a struggling student before the damage reaches their grades.</a:t>
            </a:r>
          </a:p>
        </p:txBody>
      </p:sp>
      <p:sp>
        <p:nvSpPr>
          <p:cNvPr id="7" name="Rectangle 6"/>
          <p:cNvSpPr/>
          <p:nvPr/>
        </p:nvSpPr>
        <p:spPr>
          <a:xfrm>
            <a:off x="6355080" y="1325880"/>
            <a:ext cx="5486400" cy="1188720"/>
          </a:xfrm>
          <a:prstGeom prst="rect">
            <a:avLst/>
          </a:prstGeom>
          <a:solidFill>
            <a:srgbClr val="FDF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371600"/>
            <a:ext cx="5303520" cy="320040"/>
          </a:xfrm>
          <a:prstGeom prst="rect">
            <a:avLst/>
          </a:prstGeom>
          <a:noFill/>
        </p:spPr>
        <p:txBody>
          <a:bodyPr wrap="square" anchor="t" lIns="45720" rIns="45720">
            <a:spAutoFit/>
          </a:bodyPr>
          <a:lstStyle/>
          <a:p>
            <a:pPr algn="l"/>
            <a:r>
              <a:rPr sz="1200" b="1">
                <a:solidFill>
                  <a:srgbClr val="B8860B"/>
                </a:solidFill>
                <a:latin typeface="Calibri"/>
              </a:rPr>
              <a:t>Why current tools do not help</a:t>
            </a:r>
          </a:p>
        </p:txBody>
      </p:sp>
      <p:sp>
        <p:nvSpPr>
          <p:cNvPr id="9" name="TextBox 8"/>
          <p:cNvSpPr txBox="1"/>
          <p:nvPr/>
        </p:nvSpPr>
        <p:spPr>
          <a:xfrm>
            <a:off x="6446520" y="1691640"/>
            <a:ext cx="5303520" cy="822960"/>
          </a:xfrm>
          <a:prstGeom prst="rect">
            <a:avLst/>
          </a:prstGeom>
          <a:noFill/>
        </p:spPr>
        <p:txBody>
          <a:bodyPr wrap="square">
            <a:spAutoFit/>
          </a:bodyPr>
          <a:lstStyle/>
          <a:p>
            <a:pPr algn="l">
              <a:lnSpc>
                <a:spcPct val="130000"/>
              </a:lnSpc>
              <a:spcAft>
                <a:spcPts val="600"/>
              </a:spcAft>
            </a:pPr>
            <a:r>
              <a:rPr sz="1100">
                <a:solidFill>
                  <a:srgbClr val="201F1E"/>
                </a:solidFill>
                <a:latin typeface="Calibri"/>
              </a:rPr>
              <a:t>• Form builders know nothing about timetables.</a:t>
            </a:r>
          </a:p>
          <a:p>
            <a:pPr algn="l">
              <a:lnSpc>
                <a:spcPct val="130000"/>
              </a:lnSpc>
              <a:spcAft>
                <a:spcPts val="600"/>
              </a:spcAft>
            </a:pPr>
            <a:r>
              <a:rPr sz="1100">
                <a:solidFill>
                  <a:srgbClr val="201F1E"/>
                </a:solidFill>
                <a:latin typeface="Calibri"/>
              </a:rPr>
              <a:t>• LMS attendance modules cannot distribute accommodation decisions.</a:t>
            </a:r>
          </a:p>
          <a:p>
            <a:pPr algn="l">
              <a:lnSpc>
                <a:spcPct val="130000"/>
              </a:lnSpc>
              <a:spcAft>
                <a:spcPts val="600"/>
              </a:spcAft>
            </a:pPr>
            <a:r>
              <a:rPr sz="1100">
                <a:solidFill>
                  <a:srgbClr val="201F1E"/>
                </a:solidFill>
                <a:latin typeface="Calibri"/>
              </a:rPr>
              <a:t>• Email creates no state anyone can audit.</a:t>
            </a:r>
          </a:p>
        </p:txBody>
      </p:sp>
      <p:sp>
        <p:nvSpPr>
          <p:cNvPr id="10" name="Rectangle 9"/>
          <p:cNvSpPr/>
          <p:nvPr/>
        </p:nvSpPr>
        <p:spPr>
          <a:xfrm>
            <a:off x="6355080" y="2697480"/>
            <a:ext cx="5486400" cy="3291840"/>
          </a:xfrm>
          <a:prstGeom prst="rect">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788920"/>
            <a:ext cx="5303520" cy="320040"/>
          </a:xfrm>
          <a:prstGeom prst="rect">
            <a:avLst/>
          </a:prstGeom>
          <a:noFill/>
        </p:spPr>
        <p:txBody>
          <a:bodyPr wrap="square" anchor="t" lIns="45720" rIns="45720">
            <a:spAutoFit/>
          </a:bodyPr>
          <a:lstStyle/>
          <a:p>
            <a:pPr algn="l"/>
            <a:r>
              <a:rPr sz="1200" b="1">
                <a:solidFill>
                  <a:srgbClr val="0F6CBD"/>
                </a:solidFill>
                <a:latin typeface="Calibri"/>
              </a:rPr>
              <a:t>An absence decision is an academic decision</a:t>
            </a:r>
          </a:p>
        </p:txBody>
      </p:sp>
      <p:sp>
        <p:nvSpPr>
          <p:cNvPr id="12" name="TextBox 11"/>
          <p:cNvSpPr txBox="1"/>
          <p:nvPr/>
        </p:nvSpPr>
        <p:spPr>
          <a:xfrm>
            <a:off x="6446520" y="3108960"/>
            <a:ext cx="5303520" cy="2926080"/>
          </a:xfrm>
          <a:prstGeom prst="rect">
            <a:avLst/>
          </a:prstGeom>
          <a:noFill/>
        </p:spPr>
        <p:txBody>
          <a:bodyPr wrap="square">
            <a:spAutoFit/>
          </a:bodyPr>
          <a:lstStyle/>
          <a:p>
            <a:pPr algn="l">
              <a:lnSpc>
                <a:spcPct val="130000"/>
              </a:lnSpc>
              <a:spcAft>
                <a:spcPts val="600"/>
              </a:spcAft>
            </a:pPr>
            <a:r>
              <a:rPr sz="1100">
                <a:solidFill>
                  <a:srgbClr val="201F1E"/>
                </a:solidFill>
                <a:latin typeface="Calibri"/>
              </a:rPr>
              <a:t>• Unmanaged conflict → missed assessment, disputed grade, or quiet disengagement.</a:t>
            </a:r>
          </a:p>
          <a:p>
            <a:pPr algn="l">
              <a:lnSpc>
                <a:spcPct val="130000"/>
              </a:lnSpc>
              <a:spcAft>
                <a:spcPts val="600"/>
              </a:spcAft>
            </a:pPr>
            <a:r>
              <a:rPr sz="1100">
                <a:solidFill>
                  <a:srgbClr val="201F1E"/>
                </a:solidFill>
                <a:latin typeface="Calibri"/>
              </a:rPr>
              <a:t>• The problem hits three groups at once: students, instructors, programme offices.</a:t>
            </a:r>
          </a:p>
          <a:p>
            <a:pPr algn="l">
              <a:lnSpc>
                <a:spcPct val="130000"/>
              </a:lnSpc>
              <a:spcAft>
                <a:spcPts val="600"/>
              </a:spcAft>
            </a:pPr>
            <a:r>
              <a:rPr sz="1100">
                <a:solidFill>
                  <a:srgbClr val="201F1E"/>
                </a:solidFill>
                <a:latin typeface="Calibri"/>
              </a:rPr>
              <a:t>• It is a genuine, verifiable problem on my own programme and at most universities.</a:t>
            </a:r>
          </a:p>
        </p:txBody>
      </p:sp>
      <p:sp>
        <p:nvSpPr>
          <p:cNvPr id="13" name="TextBox 12"/>
          <p:cNvSpPr txBox="1"/>
          <p:nvPr/>
        </p:nvSpPr>
        <p:spPr>
          <a:xfrm>
            <a:off x="411480" y="6400800"/>
            <a:ext cx="7315200" cy="228600"/>
          </a:xfrm>
          <a:prstGeom prst="rect">
            <a:avLst/>
          </a:prstGeom>
          <a:noFill/>
        </p:spPr>
        <p:txBody>
          <a:bodyPr wrap="square" anchor="t" lIns="45720" rIns="45720">
            <a:spAutoFit/>
          </a:bodyPr>
          <a:lstStyle/>
          <a:p>
            <a:pPr algn="l"/>
            <a:r>
              <a:rPr sz="900" b="0">
                <a:solidFill>
                  <a:srgbClr val="6B6B6B"/>
                </a:solidFill>
                <a:latin typeface="Calibri"/>
              </a:rPr>
              <a:t>SAAS · Individual Ideation · Johnny, Jeng-lin Li</a:t>
            </a:r>
          </a:p>
        </p:txBody>
      </p:sp>
      <p:sp>
        <p:nvSpPr>
          <p:cNvPr id="14" name="TextBox 13"/>
          <p:cNvSpPr txBox="1"/>
          <p:nvPr/>
        </p:nvSpPr>
        <p:spPr>
          <a:xfrm>
            <a:off x="10607040" y="6400800"/>
            <a:ext cx="1280160" cy="228600"/>
          </a:xfrm>
          <a:prstGeom prst="rect">
            <a:avLst/>
          </a:prstGeom>
          <a:noFill/>
        </p:spPr>
        <p:txBody>
          <a:bodyPr wrap="square" anchor="t" lIns="45720" rIns="45720">
            <a:spAutoFit/>
          </a:bodyPr>
          <a:lstStyle/>
          <a:p>
            <a:pPr algn="r"/>
            <a:r>
              <a:rPr sz="900" b="0">
                <a:solidFill>
                  <a:srgbClr val="6B6B6B"/>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10896"/>
            <a:ext cx="164592" cy="3840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457200"/>
          </a:xfrm>
          <a:prstGeom prst="rect">
            <a:avLst/>
          </a:prstGeom>
          <a:noFill/>
        </p:spPr>
        <p:txBody>
          <a:bodyPr wrap="square" anchor="t" lIns="45720" rIns="45720">
            <a:spAutoFit/>
          </a:bodyPr>
          <a:lstStyle/>
          <a:p>
            <a:pPr algn="l"/>
            <a:r>
              <a:rPr sz="2200" b="1">
                <a:solidFill>
                  <a:srgbClr val="201F1E"/>
                </a:solidFill>
                <a:latin typeface="Calibri"/>
              </a:rPr>
              <a:t>2 · Proposed Innovation</a:t>
            </a:r>
          </a:p>
        </p:txBody>
      </p:sp>
      <p:sp>
        <p:nvSpPr>
          <p:cNvPr id="4" name="TextBox 3"/>
          <p:cNvSpPr txBox="1"/>
          <p:nvPr/>
        </p:nvSpPr>
        <p:spPr>
          <a:xfrm>
            <a:off x="640080" y="713232"/>
            <a:ext cx="10972800" cy="292608"/>
          </a:xfrm>
          <a:prstGeom prst="rect">
            <a:avLst/>
          </a:prstGeom>
          <a:noFill/>
        </p:spPr>
        <p:txBody>
          <a:bodyPr wrap="square" anchor="t" lIns="45720" rIns="45720">
            <a:spAutoFit/>
          </a:bodyPr>
          <a:lstStyle/>
          <a:p>
            <a:pPr algn="l"/>
            <a:r>
              <a:rPr sz="1100" b="0">
                <a:solidFill>
                  <a:srgbClr val="6B6B6B"/>
                </a:solidFill>
                <a:latin typeface="Calibri"/>
              </a:rPr>
              <a:t>One submission replaces the whole email ritual</a:t>
            </a:r>
          </a:p>
        </p:txBody>
      </p:sp>
      <p:sp>
        <p:nvSpPr>
          <p:cNvPr id="5" name="Rectangle 4"/>
          <p:cNvSpPr/>
          <p:nvPr/>
        </p:nvSpPr>
        <p:spPr>
          <a:xfrm>
            <a:off x="411480" y="1051560"/>
            <a:ext cx="11475720" cy="18288"/>
          </a:xfrm>
          <a:prstGeom prst="rect">
            <a:avLst/>
          </a:prstGeom>
          <a:solidFill>
            <a:srgbClr val="E1D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80160"/>
            <a:ext cx="5669280" cy="4937760"/>
          </a:xfrm>
          <a:prstGeom prst="rect">
            <a:avLst/>
          </a:prstGeom>
          <a:noFill/>
        </p:spPr>
        <p:txBody>
          <a:bodyPr wrap="square">
            <a:spAutoFit/>
          </a:bodyPr>
          <a:lstStyle/>
          <a:p>
            <a:pPr algn="l">
              <a:lnSpc>
                <a:spcPct val="130000"/>
              </a:lnSpc>
              <a:spcAft>
                <a:spcPts val="600"/>
              </a:spcAft>
            </a:pPr>
            <a:r>
              <a:rPr sz="1300">
                <a:solidFill>
                  <a:srgbClr val="201F1E"/>
                </a:solidFill>
                <a:latin typeface="Calibri"/>
              </a:rPr>
              <a:t>• Student selects category (medical, official activity, conference, family emergency, visa, bereavement, personal…), enters dates and reason, uploads evidence.</a:t>
            </a:r>
          </a:p>
          <a:p>
            <a:pPr algn="l">
              <a:lnSpc>
                <a:spcPct val="130000"/>
              </a:lnSpc>
              <a:spcAft>
                <a:spcPts val="600"/>
              </a:spcAft>
            </a:pPr>
            <a:r>
              <a:rPr sz="1300">
                <a:solidFill>
                  <a:srgbClr val="201F1E"/>
                </a:solidFill>
                <a:latin typeface="Calibri"/>
              </a:rPr>
              <a:t>• System resolves enrolments × assessment calendar → one conflict record per affected quiz / midterm / final / workshop / laboratory.</a:t>
            </a:r>
          </a:p>
          <a:p>
            <a:pPr algn="l">
              <a:lnSpc>
                <a:spcPct val="130000"/>
              </a:lnSpc>
              <a:spcAft>
                <a:spcPts val="600"/>
              </a:spcAft>
            </a:pPr>
            <a:r>
              <a:rPr sz="1300">
                <a:solidFill>
                  <a:srgbClr val="201F1E"/>
                </a:solidFill>
                <a:latin typeface="Calibri"/>
              </a:rPr>
              <a:t>• Routes by policy: A medical → instructor; B endorsed activity → roster auto-verified, instructors notified only; C &gt; 7 days → programme office → Registry → instructors.</a:t>
            </a:r>
          </a:p>
          <a:p>
            <a:pPr algn="l">
              <a:lnSpc>
                <a:spcPct val="130000"/>
              </a:lnSpc>
              <a:spcAft>
                <a:spcPts val="600"/>
              </a:spcAft>
            </a:pPr>
            <a:r>
              <a:rPr sz="1300">
                <a:solidFill>
                  <a:srgbClr val="201F1E"/>
                </a:solidFill>
                <a:latin typeface="Calibri"/>
              </a:rPr>
              <a:t>• Instructor selects one of 5 accommodations per conflict: excused, make-up, alternative, weight redistribution, rejection with reasons.</a:t>
            </a:r>
          </a:p>
          <a:p>
            <a:pPr algn="l">
              <a:lnSpc>
                <a:spcPct val="130000"/>
              </a:lnSpc>
              <a:spcAft>
                <a:spcPts val="600"/>
              </a:spcAft>
            </a:pPr>
            <a:r>
              <a:rPr sz="1300">
                <a:solidFill>
                  <a:srgbClr val="201F1E"/>
                </a:solidFill>
                <a:latin typeface="Calibri"/>
              </a:rPr>
              <a:t>• Student sees outcome, deadline and make-up date in one timeline; notifications via email, Teams and push; every step audited.</a:t>
            </a:r>
          </a:p>
        </p:txBody>
      </p:sp>
      <p:sp>
        <p:nvSpPr>
          <p:cNvPr id="7" name="Rectangle 6"/>
          <p:cNvSpPr/>
          <p:nvPr/>
        </p:nvSpPr>
        <p:spPr>
          <a:xfrm>
            <a:off x="6355080" y="1280160"/>
            <a:ext cx="5486400" cy="493776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371600"/>
            <a:ext cx="5303520" cy="320040"/>
          </a:xfrm>
          <a:prstGeom prst="rect">
            <a:avLst/>
          </a:prstGeom>
          <a:noFill/>
        </p:spPr>
        <p:txBody>
          <a:bodyPr wrap="square" anchor="t" lIns="45720" rIns="45720">
            <a:spAutoFit/>
          </a:bodyPr>
          <a:lstStyle/>
          <a:p>
            <a:pPr algn="l"/>
            <a:r>
              <a:rPr sz="1200" b="1">
                <a:solidFill>
                  <a:srgbClr val="0E7A3D"/>
                </a:solidFill>
                <a:latin typeface="Calibri"/>
              </a:rPr>
              <a:t>What is new (not the technologies)</a:t>
            </a:r>
          </a:p>
        </p:txBody>
      </p:sp>
      <p:sp>
        <p:nvSpPr>
          <p:cNvPr id="9" name="TextBox 8"/>
          <p:cNvSpPr txBox="1"/>
          <p:nvPr/>
        </p:nvSpPr>
        <p:spPr>
          <a:xfrm>
            <a:off x="6446520" y="1691640"/>
            <a:ext cx="5303520" cy="4389120"/>
          </a:xfrm>
          <a:prstGeom prst="rect">
            <a:avLst/>
          </a:prstGeom>
          <a:noFill/>
        </p:spPr>
        <p:txBody>
          <a:bodyPr wrap="square">
            <a:spAutoFit/>
          </a:bodyPr>
          <a:lstStyle/>
          <a:p>
            <a:pPr algn="l">
              <a:lnSpc>
                <a:spcPct val="130000"/>
              </a:lnSpc>
              <a:spcAft>
                <a:spcPts val="600"/>
              </a:spcAft>
            </a:pPr>
            <a:r>
              <a:rPr sz="1100">
                <a:solidFill>
                  <a:srgbClr val="201F1E"/>
                </a:solidFill>
                <a:latin typeface="Calibri"/>
              </a:rPr>
              <a:t>• The technologies are mature — cloud hosting, campus SSO, workflow engine, document storage, integrations with SIS / LMS / email / Teams.</a:t>
            </a:r>
          </a:p>
          <a:p>
            <a:pPr algn="l">
              <a:lnSpc>
                <a:spcPct val="130000"/>
              </a:lnSpc>
              <a:spcAft>
                <a:spcPts val="600"/>
              </a:spcAft>
            </a:pPr>
            <a:r>
              <a:rPr sz="1100">
                <a:solidFill>
                  <a:srgbClr val="201F1E"/>
                </a:solidFill>
                <a:latin typeface="Calibri"/>
              </a:rPr>
              <a:t>• The new thing is the information design.</a:t>
            </a:r>
          </a:p>
          <a:p>
            <a:pPr algn="l">
              <a:lnSpc>
                <a:spcPct val="130000"/>
              </a:lnSpc>
              <a:spcAft>
                <a:spcPts val="600"/>
              </a:spcAft>
            </a:pPr>
            <a:r>
              <a:rPr sz="1100">
                <a:solidFill>
                  <a:srgbClr val="201F1E"/>
                </a:solidFill>
                <a:latin typeface="Calibri"/>
              </a:rPr>
              <a:t>• Unit of work = consequence, not request. Every affected assessment is resolved explicitly rather than left to negotiation.</a:t>
            </a:r>
          </a:p>
          <a:p>
            <a:pPr algn="l">
              <a:lnSpc>
                <a:spcPct val="130000"/>
              </a:lnSpc>
              <a:spcAft>
                <a:spcPts val="600"/>
              </a:spcAft>
            </a:pPr>
            <a:r>
              <a:rPr sz="1100">
                <a:solidFill>
                  <a:srgbClr val="201F1E"/>
                </a:solidFill>
                <a:latin typeface="Calibri"/>
              </a:rPr>
              <a:t>• Policy parameters live in Registry-owned configuration — rules change without a release.</a:t>
            </a:r>
          </a:p>
          <a:p>
            <a:pPr algn="l">
              <a:lnSpc>
                <a:spcPct val="130000"/>
              </a:lnSpc>
              <a:spcAft>
                <a:spcPts val="600"/>
              </a:spcAft>
            </a:pPr>
            <a:r>
              <a:rPr sz="1100">
                <a:solidFill>
                  <a:srgbClr val="201F1E"/>
                </a:solidFill>
                <a:latin typeface="Calibri"/>
              </a:rPr>
              <a:t>• Privacy is structural: instructors receive the accommodation to apply, never the medical reason or certificate behind it.</a:t>
            </a:r>
          </a:p>
        </p:txBody>
      </p:sp>
      <p:sp>
        <p:nvSpPr>
          <p:cNvPr id="10" name="TextBox 9"/>
          <p:cNvSpPr txBox="1"/>
          <p:nvPr/>
        </p:nvSpPr>
        <p:spPr>
          <a:xfrm>
            <a:off x="411480" y="6400800"/>
            <a:ext cx="7315200" cy="228600"/>
          </a:xfrm>
          <a:prstGeom prst="rect">
            <a:avLst/>
          </a:prstGeom>
          <a:noFill/>
        </p:spPr>
        <p:txBody>
          <a:bodyPr wrap="square" anchor="t" lIns="45720" rIns="45720">
            <a:spAutoFit/>
          </a:bodyPr>
          <a:lstStyle/>
          <a:p>
            <a:pPr algn="l"/>
            <a:r>
              <a:rPr sz="900" b="0">
                <a:solidFill>
                  <a:srgbClr val="6B6B6B"/>
                </a:solidFill>
                <a:latin typeface="Calibri"/>
              </a:rPr>
              <a:t>SAAS · Individual Ideation · Johnny, Jeng-lin Li</a:t>
            </a:r>
          </a:p>
        </p:txBody>
      </p:sp>
      <p:sp>
        <p:nvSpPr>
          <p:cNvPr id="11" name="TextBox 10"/>
          <p:cNvSpPr txBox="1"/>
          <p:nvPr/>
        </p:nvSpPr>
        <p:spPr>
          <a:xfrm>
            <a:off x="10607040" y="6400800"/>
            <a:ext cx="1280160" cy="228600"/>
          </a:xfrm>
          <a:prstGeom prst="rect">
            <a:avLst/>
          </a:prstGeom>
          <a:noFill/>
        </p:spPr>
        <p:txBody>
          <a:bodyPr wrap="square" anchor="t" lIns="45720" rIns="45720">
            <a:spAutoFit/>
          </a:bodyPr>
          <a:lstStyle/>
          <a:p>
            <a:pPr algn="r"/>
            <a:r>
              <a:rPr sz="900" b="0">
                <a:solidFill>
                  <a:srgbClr val="6B6B6B"/>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10896"/>
            <a:ext cx="164592" cy="3840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457200"/>
          </a:xfrm>
          <a:prstGeom prst="rect">
            <a:avLst/>
          </a:prstGeom>
          <a:noFill/>
        </p:spPr>
        <p:txBody>
          <a:bodyPr wrap="square" anchor="t" lIns="45720" rIns="45720">
            <a:spAutoFit/>
          </a:bodyPr>
          <a:lstStyle/>
          <a:p>
            <a:pPr algn="l"/>
            <a:r>
              <a:rPr sz="2200" b="1">
                <a:solidFill>
                  <a:srgbClr val="201F1E"/>
                </a:solidFill>
                <a:latin typeface="Calibri"/>
              </a:rPr>
              <a:t>3 · How It Works</a:t>
            </a:r>
          </a:p>
        </p:txBody>
      </p:sp>
      <p:sp>
        <p:nvSpPr>
          <p:cNvPr id="4" name="TextBox 3"/>
          <p:cNvSpPr txBox="1"/>
          <p:nvPr/>
        </p:nvSpPr>
        <p:spPr>
          <a:xfrm>
            <a:off x="640080" y="713232"/>
            <a:ext cx="10972800" cy="292608"/>
          </a:xfrm>
          <a:prstGeom prst="rect">
            <a:avLst/>
          </a:prstGeom>
          <a:noFill/>
        </p:spPr>
        <p:txBody>
          <a:bodyPr wrap="square" anchor="t" lIns="45720" rIns="45720">
            <a:spAutoFit/>
          </a:bodyPr>
          <a:lstStyle/>
          <a:p>
            <a:pPr algn="l"/>
            <a:r>
              <a:rPr sz="1100" b="0">
                <a:solidFill>
                  <a:srgbClr val="6B6B6B"/>
                </a:solidFill>
                <a:latin typeface="Calibri"/>
              </a:rPr>
              <a:t>One request → resolved conflicts → policy routing → accommodation</a:t>
            </a:r>
          </a:p>
        </p:txBody>
      </p:sp>
      <p:sp>
        <p:nvSpPr>
          <p:cNvPr id="5" name="Rectangle 4"/>
          <p:cNvSpPr/>
          <p:nvPr/>
        </p:nvSpPr>
        <p:spPr>
          <a:xfrm>
            <a:off x="411480" y="1051560"/>
            <a:ext cx="11475720" cy="18288"/>
          </a:xfrm>
          <a:prstGeom prst="rect">
            <a:avLst/>
          </a:prstGeom>
          <a:solidFill>
            <a:srgbClr val="E1D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1_workflow.png"/>
          <p:cNvPicPr>
            <a:picLocks noChangeAspect="1"/>
          </p:cNvPicPr>
          <p:nvPr/>
        </p:nvPicPr>
        <p:blipFill>
          <a:blip r:embed="rId2"/>
          <a:stretch>
            <a:fillRect/>
          </a:stretch>
        </p:blipFill>
        <p:spPr>
          <a:xfrm>
            <a:off x="1965960" y="1325880"/>
            <a:ext cx="8229600" cy="4962889"/>
          </a:xfrm>
          <a:prstGeom prst="rect">
            <a:avLst/>
          </a:prstGeom>
        </p:spPr>
      </p:pic>
      <p:sp>
        <p:nvSpPr>
          <p:cNvPr id="7" name="TextBox 6"/>
          <p:cNvSpPr txBox="1"/>
          <p:nvPr/>
        </p:nvSpPr>
        <p:spPr>
          <a:xfrm>
            <a:off x="411480" y="6400800"/>
            <a:ext cx="7315200" cy="228600"/>
          </a:xfrm>
          <a:prstGeom prst="rect">
            <a:avLst/>
          </a:prstGeom>
          <a:noFill/>
        </p:spPr>
        <p:txBody>
          <a:bodyPr wrap="square" anchor="t" lIns="45720" rIns="45720">
            <a:spAutoFit/>
          </a:bodyPr>
          <a:lstStyle/>
          <a:p>
            <a:pPr algn="l"/>
            <a:r>
              <a:rPr sz="900" b="0">
                <a:solidFill>
                  <a:srgbClr val="6B6B6B"/>
                </a:solidFill>
                <a:latin typeface="Calibri"/>
              </a:rPr>
              <a:t>SAAS · Individual Ideation · Johnny, Jeng-lin Li</a:t>
            </a:r>
          </a:p>
        </p:txBody>
      </p:sp>
      <p:sp>
        <p:nvSpPr>
          <p:cNvPr id="8" name="TextBox 7"/>
          <p:cNvSpPr txBox="1"/>
          <p:nvPr/>
        </p:nvSpPr>
        <p:spPr>
          <a:xfrm>
            <a:off x="10607040" y="6400800"/>
            <a:ext cx="1280160" cy="228600"/>
          </a:xfrm>
          <a:prstGeom prst="rect">
            <a:avLst/>
          </a:prstGeom>
          <a:noFill/>
        </p:spPr>
        <p:txBody>
          <a:bodyPr wrap="square" anchor="t" lIns="45720" rIns="45720">
            <a:spAutoFit/>
          </a:bodyPr>
          <a:lstStyle/>
          <a:p>
            <a:pPr algn="r"/>
            <a:r>
              <a:rPr sz="900" b="0">
                <a:solidFill>
                  <a:srgbClr val="6B6B6B"/>
                </a:solidFill>
                <a:latin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10896"/>
            <a:ext cx="164592" cy="3840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457200"/>
          </a:xfrm>
          <a:prstGeom prst="rect">
            <a:avLst/>
          </a:prstGeom>
          <a:noFill/>
        </p:spPr>
        <p:txBody>
          <a:bodyPr wrap="square" anchor="t" lIns="45720" rIns="45720">
            <a:spAutoFit/>
          </a:bodyPr>
          <a:lstStyle/>
          <a:p>
            <a:pPr algn="l"/>
            <a:r>
              <a:rPr sz="2200" b="1">
                <a:solidFill>
                  <a:srgbClr val="201F1E"/>
                </a:solidFill>
                <a:latin typeface="Calibri"/>
              </a:rPr>
              <a:t>4 · Three Routing Cases</a:t>
            </a:r>
          </a:p>
        </p:txBody>
      </p:sp>
      <p:sp>
        <p:nvSpPr>
          <p:cNvPr id="4" name="TextBox 3"/>
          <p:cNvSpPr txBox="1"/>
          <p:nvPr/>
        </p:nvSpPr>
        <p:spPr>
          <a:xfrm>
            <a:off x="640080" y="713232"/>
            <a:ext cx="10972800" cy="292608"/>
          </a:xfrm>
          <a:prstGeom prst="rect">
            <a:avLst/>
          </a:prstGeom>
          <a:noFill/>
        </p:spPr>
        <p:txBody>
          <a:bodyPr wrap="square" anchor="t" lIns="45720" rIns="45720">
            <a:spAutoFit/>
          </a:bodyPr>
          <a:lstStyle/>
          <a:p>
            <a:pPr algn="l"/>
            <a:r>
              <a:rPr sz="1100" b="0">
                <a:solidFill>
                  <a:srgbClr val="6B6B6B"/>
                </a:solidFill>
                <a:latin typeface="Calibri"/>
              </a:rPr>
              <a:t>Configuration, not hard-coded logic</a:t>
            </a:r>
          </a:p>
        </p:txBody>
      </p:sp>
      <p:sp>
        <p:nvSpPr>
          <p:cNvPr id="5" name="Rectangle 4"/>
          <p:cNvSpPr/>
          <p:nvPr/>
        </p:nvSpPr>
        <p:spPr>
          <a:xfrm>
            <a:off x="411480" y="1051560"/>
            <a:ext cx="11475720" cy="18288"/>
          </a:xfrm>
          <a:prstGeom prst="rect">
            <a:avLst/>
          </a:prstGeom>
          <a:solidFill>
            <a:srgbClr val="E1D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371600"/>
            <a:ext cx="3566160" cy="640080"/>
          </a:xfrm>
          <a:prstGeom prst="rect">
            <a:avLst/>
          </a:prstGeom>
          <a:solidFill>
            <a:srgbClr val="0E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3566160" cy="457200"/>
          </a:xfrm>
          <a:prstGeom prst="rect">
            <a:avLst/>
          </a:prstGeom>
          <a:noFill/>
        </p:spPr>
        <p:txBody>
          <a:bodyPr wrap="square" anchor="t" lIns="45720" rIns="45720">
            <a:spAutoFit/>
          </a:bodyPr>
          <a:lstStyle/>
          <a:p>
            <a:pPr algn="ctr"/>
            <a:r>
              <a:rPr sz="1400" b="1">
                <a:solidFill>
                  <a:srgbClr val="FFFFFF"/>
                </a:solidFill>
                <a:latin typeface="Calibri"/>
              </a:rPr>
              <a:t>CASE A · Medical Leave</a:t>
            </a:r>
          </a:p>
        </p:txBody>
      </p:sp>
      <p:sp>
        <p:nvSpPr>
          <p:cNvPr id="8" name="Rectangle 7"/>
          <p:cNvSpPr/>
          <p:nvPr/>
        </p:nvSpPr>
        <p:spPr>
          <a:xfrm>
            <a:off x="502920" y="2057400"/>
            <a:ext cx="3566160" cy="2926080"/>
          </a:xfrm>
          <a:prstGeom prst="rect">
            <a:avLst/>
          </a:prstGeom>
          <a:solidFill>
            <a:srgbClr val="FAFAFA"/>
          </a:solidFill>
          <a:ln>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148840"/>
            <a:ext cx="3200400" cy="274320"/>
          </a:xfrm>
          <a:prstGeom prst="rect">
            <a:avLst/>
          </a:prstGeom>
          <a:noFill/>
        </p:spPr>
        <p:txBody>
          <a:bodyPr wrap="square" anchor="t" lIns="45720" rIns="45720">
            <a:spAutoFit/>
          </a:bodyPr>
          <a:lstStyle/>
          <a:p>
            <a:pPr algn="l"/>
            <a:r>
              <a:rPr sz="1000" b="1">
                <a:solidFill>
                  <a:srgbClr val="6B6B6B"/>
                </a:solidFill>
                <a:latin typeface="Calibri"/>
              </a:rPr>
              <a:t>Trigger</a:t>
            </a:r>
          </a:p>
        </p:txBody>
      </p:sp>
      <p:sp>
        <p:nvSpPr>
          <p:cNvPr id="10" name="TextBox 9"/>
          <p:cNvSpPr txBox="1"/>
          <p:nvPr/>
        </p:nvSpPr>
        <p:spPr>
          <a:xfrm>
            <a:off x="685800" y="2395728"/>
            <a:ext cx="3200400" cy="457200"/>
          </a:xfrm>
          <a:prstGeom prst="rect">
            <a:avLst/>
          </a:prstGeom>
          <a:noFill/>
        </p:spPr>
        <p:txBody>
          <a:bodyPr wrap="square" anchor="t" lIns="45720" rIns="45720">
            <a:spAutoFit/>
          </a:bodyPr>
          <a:lstStyle/>
          <a:p>
            <a:pPr algn="l"/>
            <a:r>
              <a:rPr sz="1400" b="1">
                <a:solidFill>
                  <a:srgbClr val="201F1E"/>
                </a:solidFill>
                <a:latin typeface="Calibri"/>
              </a:rPr>
              <a:t>&lt; 7 days</a:t>
            </a:r>
          </a:p>
        </p:txBody>
      </p:sp>
      <p:sp>
        <p:nvSpPr>
          <p:cNvPr id="11" name="TextBox 10"/>
          <p:cNvSpPr txBox="1"/>
          <p:nvPr/>
        </p:nvSpPr>
        <p:spPr>
          <a:xfrm>
            <a:off x="685800" y="2907792"/>
            <a:ext cx="3200400" cy="274320"/>
          </a:xfrm>
          <a:prstGeom prst="rect">
            <a:avLst/>
          </a:prstGeom>
          <a:noFill/>
        </p:spPr>
        <p:txBody>
          <a:bodyPr wrap="square" anchor="t" lIns="45720" rIns="45720">
            <a:spAutoFit/>
          </a:bodyPr>
          <a:lstStyle/>
          <a:p>
            <a:pPr algn="l"/>
            <a:r>
              <a:rPr sz="1000" b="1">
                <a:solidFill>
                  <a:srgbClr val="6B6B6B"/>
                </a:solidFill>
                <a:latin typeface="Calibri"/>
              </a:rPr>
              <a:t>Route</a:t>
            </a:r>
          </a:p>
        </p:txBody>
      </p:sp>
      <p:sp>
        <p:nvSpPr>
          <p:cNvPr id="12" name="TextBox 11"/>
          <p:cNvSpPr txBox="1"/>
          <p:nvPr/>
        </p:nvSpPr>
        <p:spPr>
          <a:xfrm>
            <a:off x="685800" y="3154680"/>
            <a:ext cx="3200400" cy="640080"/>
          </a:xfrm>
          <a:prstGeom prst="rect">
            <a:avLst/>
          </a:prstGeom>
          <a:noFill/>
        </p:spPr>
        <p:txBody>
          <a:bodyPr wrap="square" anchor="t" lIns="45720" rIns="45720">
            <a:spAutoFit/>
          </a:bodyPr>
          <a:lstStyle/>
          <a:p>
            <a:pPr algn="l"/>
            <a:r>
              <a:rPr sz="1200" b="0">
                <a:solidFill>
                  <a:srgbClr val="201F1E"/>
                </a:solidFill>
                <a:latin typeface="Calibri"/>
              </a:rPr>
              <a:t>→ affected instructors decide</a:t>
            </a:r>
          </a:p>
        </p:txBody>
      </p:sp>
      <p:sp>
        <p:nvSpPr>
          <p:cNvPr id="13" name="TextBox 12"/>
          <p:cNvSpPr txBox="1"/>
          <p:nvPr/>
        </p:nvSpPr>
        <p:spPr>
          <a:xfrm>
            <a:off x="685800" y="3886200"/>
            <a:ext cx="3200400" cy="914400"/>
          </a:xfrm>
          <a:prstGeom prst="rect">
            <a:avLst/>
          </a:prstGeom>
          <a:noFill/>
        </p:spPr>
        <p:txBody>
          <a:bodyPr wrap="square" anchor="t" lIns="45720" rIns="45720">
            <a:spAutoFit/>
          </a:bodyPr>
          <a:lstStyle/>
          <a:p>
            <a:pPr algn="l"/>
            <a:r>
              <a:rPr sz="1050" b="0">
                <a:solidFill>
                  <a:srgbClr val="6B6B6B"/>
                </a:solidFill>
                <a:latin typeface="Calibri"/>
              </a:rPr>
              <a:t>Each instructor picks an accommodation; if &gt;3 days Registry countersigns.</a:t>
            </a:r>
          </a:p>
        </p:txBody>
      </p:sp>
      <p:sp>
        <p:nvSpPr>
          <p:cNvPr id="14" name="Rectangle 13"/>
          <p:cNvSpPr/>
          <p:nvPr/>
        </p:nvSpPr>
        <p:spPr>
          <a:xfrm>
            <a:off x="4343400" y="1371600"/>
            <a:ext cx="3566160" cy="6400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417320"/>
            <a:ext cx="3566160" cy="457200"/>
          </a:xfrm>
          <a:prstGeom prst="rect">
            <a:avLst/>
          </a:prstGeom>
          <a:noFill/>
        </p:spPr>
        <p:txBody>
          <a:bodyPr wrap="square" anchor="t" lIns="45720" rIns="45720">
            <a:spAutoFit/>
          </a:bodyPr>
          <a:lstStyle/>
          <a:p>
            <a:pPr algn="ctr"/>
            <a:r>
              <a:rPr sz="1400" b="1">
                <a:solidFill>
                  <a:srgbClr val="FFFFFF"/>
                </a:solidFill>
                <a:latin typeface="Calibri"/>
              </a:rPr>
              <a:t>CASE B · Official Activity</a:t>
            </a:r>
          </a:p>
        </p:txBody>
      </p:sp>
      <p:sp>
        <p:nvSpPr>
          <p:cNvPr id="16" name="Rectangle 15"/>
          <p:cNvSpPr/>
          <p:nvPr/>
        </p:nvSpPr>
        <p:spPr>
          <a:xfrm>
            <a:off x="4343400" y="2057400"/>
            <a:ext cx="3566160" cy="2926080"/>
          </a:xfrm>
          <a:prstGeom prst="rect">
            <a:avLst/>
          </a:prstGeom>
          <a:solidFill>
            <a:srgbClr val="FAFAFA"/>
          </a:solidFill>
          <a:ln>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2148840"/>
            <a:ext cx="3200400" cy="274320"/>
          </a:xfrm>
          <a:prstGeom prst="rect">
            <a:avLst/>
          </a:prstGeom>
          <a:noFill/>
        </p:spPr>
        <p:txBody>
          <a:bodyPr wrap="square" anchor="t" lIns="45720" rIns="45720">
            <a:spAutoFit/>
          </a:bodyPr>
          <a:lstStyle/>
          <a:p>
            <a:pPr algn="l"/>
            <a:r>
              <a:rPr sz="1000" b="1">
                <a:solidFill>
                  <a:srgbClr val="6B6B6B"/>
                </a:solidFill>
                <a:latin typeface="Calibri"/>
              </a:rPr>
              <a:t>Trigger</a:t>
            </a:r>
          </a:p>
        </p:txBody>
      </p:sp>
      <p:sp>
        <p:nvSpPr>
          <p:cNvPr id="18" name="TextBox 17"/>
          <p:cNvSpPr txBox="1"/>
          <p:nvPr/>
        </p:nvSpPr>
        <p:spPr>
          <a:xfrm>
            <a:off x="4526280" y="2395728"/>
            <a:ext cx="3200400" cy="457200"/>
          </a:xfrm>
          <a:prstGeom prst="rect">
            <a:avLst/>
          </a:prstGeom>
          <a:noFill/>
        </p:spPr>
        <p:txBody>
          <a:bodyPr wrap="square" anchor="t" lIns="45720" rIns="45720">
            <a:spAutoFit/>
          </a:bodyPr>
          <a:lstStyle/>
          <a:p>
            <a:pPr algn="l"/>
            <a:r>
              <a:rPr sz="1400" b="1">
                <a:solidFill>
                  <a:srgbClr val="201F1E"/>
                </a:solidFill>
                <a:latin typeface="Calibri"/>
              </a:rPr>
              <a:t>roster match</a:t>
            </a:r>
          </a:p>
        </p:txBody>
      </p:sp>
      <p:sp>
        <p:nvSpPr>
          <p:cNvPr id="19" name="TextBox 18"/>
          <p:cNvSpPr txBox="1"/>
          <p:nvPr/>
        </p:nvSpPr>
        <p:spPr>
          <a:xfrm>
            <a:off x="4526280" y="2907792"/>
            <a:ext cx="3200400" cy="274320"/>
          </a:xfrm>
          <a:prstGeom prst="rect">
            <a:avLst/>
          </a:prstGeom>
          <a:noFill/>
        </p:spPr>
        <p:txBody>
          <a:bodyPr wrap="square" anchor="t" lIns="45720" rIns="45720">
            <a:spAutoFit/>
          </a:bodyPr>
          <a:lstStyle/>
          <a:p>
            <a:pPr algn="l"/>
            <a:r>
              <a:rPr sz="1000" b="1">
                <a:solidFill>
                  <a:srgbClr val="6B6B6B"/>
                </a:solidFill>
                <a:latin typeface="Calibri"/>
              </a:rPr>
              <a:t>Route</a:t>
            </a:r>
          </a:p>
        </p:txBody>
      </p:sp>
      <p:sp>
        <p:nvSpPr>
          <p:cNvPr id="20" name="TextBox 19"/>
          <p:cNvSpPr txBox="1"/>
          <p:nvPr/>
        </p:nvSpPr>
        <p:spPr>
          <a:xfrm>
            <a:off x="4526280" y="3154680"/>
            <a:ext cx="3200400" cy="640080"/>
          </a:xfrm>
          <a:prstGeom prst="rect">
            <a:avLst/>
          </a:prstGeom>
          <a:noFill/>
        </p:spPr>
        <p:txBody>
          <a:bodyPr wrap="square" anchor="t" lIns="45720" rIns="45720">
            <a:spAutoFit/>
          </a:bodyPr>
          <a:lstStyle/>
          <a:p>
            <a:pPr algn="l"/>
            <a:r>
              <a:rPr sz="1200" b="0">
                <a:solidFill>
                  <a:srgbClr val="201F1E"/>
                </a:solidFill>
                <a:latin typeface="Calibri"/>
              </a:rPr>
              <a:t>→ auto-verified, instructors notified only</a:t>
            </a:r>
          </a:p>
        </p:txBody>
      </p:sp>
      <p:sp>
        <p:nvSpPr>
          <p:cNvPr id="21" name="TextBox 20"/>
          <p:cNvSpPr txBox="1"/>
          <p:nvPr/>
        </p:nvSpPr>
        <p:spPr>
          <a:xfrm>
            <a:off x="4526280" y="3886200"/>
            <a:ext cx="3200400" cy="914400"/>
          </a:xfrm>
          <a:prstGeom prst="rect">
            <a:avLst/>
          </a:prstGeom>
          <a:noFill/>
        </p:spPr>
        <p:txBody>
          <a:bodyPr wrap="square" anchor="t" lIns="45720" rIns="45720">
            <a:spAutoFit/>
          </a:bodyPr>
          <a:lstStyle/>
          <a:p>
            <a:pPr algn="l"/>
            <a:r>
              <a:rPr sz="1050" b="0">
                <a:solidFill>
                  <a:srgbClr val="6B6B6B"/>
                </a:solidFill>
                <a:latin typeface="Calibri"/>
              </a:rPr>
              <a:t>No approval gate; students on the endorsed roster get the highest priority lane.</a:t>
            </a:r>
          </a:p>
        </p:txBody>
      </p:sp>
      <p:sp>
        <p:nvSpPr>
          <p:cNvPr id="22" name="Rectangle 21"/>
          <p:cNvSpPr/>
          <p:nvPr/>
        </p:nvSpPr>
        <p:spPr>
          <a:xfrm>
            <a:off x="8183880" y="1371600"/>
            <a:ext cx="3566160" cy="640080"/>
          </a:xfrm>
          <a:prstGeom prst="rect">
            <a:avLst/>
          </a:prstGeom>
          <a:solidFill>
            <a:srgbClr val="B10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83880" y="1417320"/>
            <a:ext cx="3566160" cy="457200"/>
          </a:xfrm>
          <a:prstGeom prst="rect">
            <a:avLst/>
          </a:prstGeom>
          <a:noFill/>
        </p:spPr>
        <p:txBody>
          <a:bodyPr wrap="square" anchor="t" lIns="45720" rIns="45720">
            <a:spAutoFit/>
          </a:bodyPr>
          <a:lstStyle/>
          <a:p>
            <a:pPr algn="ctr"/>
            <a:r>
              <a:rPr sz="1400" b="1">
                <a:solidFill>
                  <a:srgbClr val="FFFFFF"/>
                </a:solidFill>
                <a:latin typeface="Calibri"/>
              </a:rPr>
              <a:t>CASE C · Absence &gt; 7 days</a:t>
            </a:r>
          </a:p>
        </p:txBody>
      </p:sp>
      <p:sp>
        <p:nvSpPr>
          <p:cNvPr id="24" name="Rectangle 23"/>
          <p:cNvSpPr/>
          <p:nvPr/>
        </p:nvSpPr>
        <p:spPr>
          <a:xfrm>
            <a:off x="8183880" y="2057400"/>
            <a:ext cx="3566160" cy="2926080"/>
          </a:xfrm>
          <a:prstGeom prst="rect">
            <a:avLst/>
          </a:prstGeom>
          <a:solidFill>
            <a:srgbClr val="FAFAFA"/>
          </a:solidFill>
          <a:ln>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60" y="2148840"/>
            <a:ext cx="3200400" cy="274320"/>
          </a:xfrm>
          <a:prstGeom prst="rect">
            <a:avLst/>
          </a:prstGeom>
          <a:noFill/>
        </p:spPr>
        <p:txBody>
          <a:bodyPr wrap="square" anchor="t" lIns="45720" rIns="45720">
            <a:spAutoFit/>
          </a:bodyPr>
          <a:lstStyle/>
          <a:p>
            <a:pPr algn="l"/>
            <a:r>
              <a:rPr sz="1000" b="1">
                <a:solidFill>
                  <a:srgbClr val="6B6B6B"/>
                </a:solidFill>
                <a:latin typeface="Calibri"/>
              </a:rPr>
              <a:t>Trigger</a:t>
            </a:r>
          </a:p>
        </p:txBody>
      </p:sp>
      <p:sp>
        <p:nvSpPr>
          <p:cNvPr id="26" name="TextBox 25"/>
          <p:cNvSpPr txBox="1"/>
          <p:nvPr/>
        </p:nvSpPr>
        <p:spPr>
          <a:xfrm>
            <a:off x="8366760" y="2395728"/>
            <a:ext cx="3200400" cy="457200"/>
          </a:xfrm>
          <a:prstGeom prst="rect">
            <a:avLst/>
          </a:prstGeom>
          <a:noFill/>
        </p:spPr>
        <p:txBody>
          <a:bodyPr wrap="square" anchor="t" lIns="45720" rIns="45720">
            <a:spAutoFit/>
          </a:bodyPr>
          <a:lstStyle/>
          <a:p>
            <a:pPr algn="l"/>
            <a:r>
              <a:rPr sz="1400" b="1">
                <a:solidFill>
                  <a:srgbClr val="201F1E"/>
                </a:solidFill>
                <a:latin typeface="Calibri"/>
              </a:rPr>
              <a:t>long absence</a:t>
            </a:r>
          </a:p>
        </p:txBody>
      </p:sp>
      <p:sp>
        <p:nvSpPr>
          <p:cNvPr id="27" name="TextBox 26"/>
          <p:cNvSpPr txBox="1"/>
          <p:nvPr/>
        </p:nvSpPr>
        <p:spPr>
          <a:xfrm>
            <a:off x="8366760" y="2907792"/>
            <a:ext cx="3200400" cy="274320"/>
          </a:xfrm>
          <a:prstGeom prst="rect">
            <a:avLst/>
          </a:prstGeom>
          <a:noFill/>
        </p:spPr>
        <p:txBody>
          <a:bodyPr wrap="square" anchor="t" lIns="45720" rIns="45720">
            <a:spAutoFit/>
          </a:bodyPr>
          <a:lstStyle/>
          <a:p>
            <a:pPr algn="l"/>
            <a:r>
              <a:rPr sz="1000" b="1">
                <a:solidFill>
                  <a:srgbClr val="6B6B6B"/>
                </a:solidFill>
                <a:latin typeface="Calibri"/>
              </a:rPr>
              <a:t>Route</a:t>
            </a:r>
          </a:p>
        </p:txBody>
      </p:sp>
      <p:sp>
        <p:nvSpPr>
          <p:cNvPr id="28" name="TextBox 27"/>
          <p:cNvSpPr txBox="1"/>
          <p:nvPr/>
        </p:nvSpPr>
        <p:spPr>
          <a:xfrm>
            <a:off x="8366760" y="3154680"/>
            <a:ext cx="3200400" cy="640080"/>
          </a:xfrm>
          <a:prstGeom prst="rect">
            <a:avLst/>
          </a:prstGeom>
          <a:noFill/>
        </p:spPr>
        <p:txBody>
          <a:bodyPr wrap="square" anchor="t" lIns="45720" rIns="45720">
            <a:spAutoFit/>
          </a:bodyPr>
          <a:lstStyle/>
          <a:p>
            <a:pPr algn="l"/>
            <a:r>
              <a:rPr sz="1200" b="0">
                <a:solidFill>
                  <a:srgbClr val="201F1E"/>
                </a:solidFill>
                <a:latin typeface="Calibri"/>
              </a:rPr>
              <a:t>→ programme office → Registry → instructors</a:t>
            </a:r>
          </a:p>
        </p:txBody>
      </p:sp>
      <p:sp>
        <p:nvSpPr>
          <p:cNvPr id="29" name="TextBox 28"/>
          <p:cNvSpPr txBox="1"/>
          <p:nvPr/>
        </p:nvSpPr>
        <p:spPr>
          <a:xfrm>
            <a:off x="8366760" y="3886200"/>
            <a:ext cx="3200400" cy="914400"/>
          </a:xfrm>
          <a:prstGeom prst="rect">
            <a:avLst/>
          </a:prstGeom>
          <a:noFill/>
        </p:spPr>
        <p:txBody>
          <a:bodyPr wrap="square" anchor="t" lIns="45720" rIns="45720">
            <a:spAutoFit/>
          </a:bodyPr>
          <a:lstStyle/>
          <a:p>
            <a:pPr algn="l"/>
            <a:r>
              <a:rPr sz="1050" b="0">
                <a:solidFill>
                  <a:srgbClr val="6B6B6B"/>
                </a:solidFill>
                <a:latin typeface="Calibri"/>
              </a:rPr>
              <a:t>Registry may attach conditions (coursework plan, minimum attendance) before final approval.</a:t>
            </a:r>
          </a:p>
        </p:txBody>
      </p:sp>
      <p:sp>
        <p:nvSpPr>
          <p:cNvPr id="30" name="TextBox 29"/>
          <p:cNvSpPr txBox="1"/>
          <p:nvPr/>
        </p:nvSpPr>
        <p:spPr>
          <a:xfrm>
            <a:off x="502920" y="5303520"/>
            <a:ext cx="11338560" cy="365760"/>
          </a:xfrm>
          <a:prstGeom prst="rect">
            <a:avLst/>
          </a:prstGeom>
          <a:noFill/>
        </p:spPr>
        <p:txBody>
          <a:bodyPr wrap="square" anchor="t" lIns="45720" rIns="45720">
            <a:spAutoFit/>
          </a:bodyPr>
          <a:lstStyle/>
          <a:p>
            <a:pPr algn="l"/>
            <a:r>
              <a:rPr sz="1100" b="0">
                <a:solidFill>
                  <a:srgbClr val="6B6B6B"/>
                </a:solidFill>
                <a:latin typeface="Calibri"/>
              </a:rPr>
              <a:t>Case B students: auto-verified, no document required, highest priority lane · Case C must pass Registry before instructors act</a:t>
            </a:r>
          </a:p>
        </p:txBody>
      </p:sp>
      <p:sp>
        <p:nvSpPr>
          <p:cNvPr id="31" name="TextBox 30"/>
          <p:cNvSpPr txBox="1"/>
          <p:nvPr/>
        </p:nvSpPr>
        <p:spPr>
          <a:xfrm>
            <a:off x="411480" y="6400800"/>
            <a:ext cx="7315200" cy="228600"/>
          </a:xfrm>
          <a:prstGeom prst="rect">
            <a:avLst/>
          </a:prstGeom>
          <a:noFill/>
        </p:spPr>
        <p:txBody>
          <a:bodyPr wrap="square" anchor="t" lIns="45720" rIns="45720">
            <a:spAutoFit/>
          </a:bodyPr>
          <a:lstStyle/>
          <a:p>
            <a:pPr algn="l"/>
            <a:r>
              <a:rPr sz="900" b="0">
                <a:solidFill>
                  <a:srgbClr val="6B6B6B"/>
                </a:solidFill>
                <a:latin typeface="Calibri"/>
              </a:rPr>
              <a:t>SAAS · Individual Ideation · Johnny, Jeng-lin Li</a:t>
            </a:r>
          </a:p>
        </p:txBody>
      </p:sp>
      <p:sp>
        <p:nvSpPr>
          <p:cNvPr id="32" name="TextBox 31"/>
          <p:cNvSpPr txBox="1"/>
          <p:nvPr/>
        </p:nvSpPr>
        <p:spPr>
          <a:xfrm>
            <a:off x="10607040" y="6400800"/>
            <a:ext cx="1280160" cy="228600"/>
          </a:xfrm>
          <a:prstGeom prst="rect">
            <a:avLst/>
          </a:prstGeom>
          <a:noFill/>
        </p:spPr>
        <p:txBody>
          <a:bodyPr wrap="square" anchor="t" lIns="45720" rIns="45720">
            <a:spAutoFit/>
          </a:bodyPr>
          <a:lstStyle/>
          <a:p>
            <a:pPr algn="r"/>
            <a:r>
              <a:rPr sz="900" b="0">
                <a:solidFill>
                  <a:srgbClr val="6B6B6B"/>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10896"/>
            <a:ext cx="164592" cy="3840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457200"/>
          </a:xfrm>
          <a:prstGeom prst="rect">
            <a:avLst/>
          </a:prstGeom>
          <a:noFill/>
        </p:spPr>
        <p:txBody>
          <a:bodyPr wrap="square" anchor="t" lIns="45720" rIns="45720">
            <a:spAutoFit/>
          </a:bodyPr>
          <a:lstStyle/>
          <a:p>
            <a:pPr algn="l"/>
            <a:r>
              <a:rPr sz="2200" b="1">
                <a:solidFill>
                  <a:srgbClr val="201F1E"/>
                </a:solidFill>
                <a:latin typeface="Calibri"/>
              </a:rPr>
              <a:t>5 · Course Concept · Complements</a:t>
            </a:r>
          </a:p>
        </p:txBody>
      </p:sp>
      <p:sp>
        <p:nvSpPr>
          <p:cNvPr id="4" name="TextBox 3"/>
          <p:cNvSpPr txBox="1"/>
          <p:nvPr/>
        </p:nvSpPr>
        <p:spPr>
          <a:xfrm>
            <a:off x="640080" y="713232"/>
            <a:ext cx="10972800" cy="292608"/>
          </a:xfrm>
          <a:prstGeom prst="rect">
            <a:avLst/>
          </a:prstGeom>
          <a:noFill/>
        </p:spPr>
        <p:txBody>
          <a:bodyPr wrap="square" anchor="t" lIns="45720" rIns="45720">
            <a:spAutoFit/>
          </a:bodyPr>
          <a:lstStyle/>
          <a:p>
            <a:pPr algn="l"/>
            <a:r>
              <a:rPr sz="1100" b="0">
                <a:solidFill>
                  <a:srgbClr val="6B6B6B"/>
                </a:solidFill>
                <a:latin typeface="Calibri"/>
              </a:rPr>
              <a:t>Teece (1986): value is co-produced with the assets an innovator does not own</a:t>
            </a:r>
          </a:p>
        </p:txBody>
      </p:sp>
      <p:sp>
        <p:nvSpPr>
          <p:cNvPr id="5" name="Rectangle 4"/>
          <p:cNvSpPr/>
          <p:nvPr/>
        </p:nvSpPr>
        <p:spPr>
          <a:xfrm>
            <a:off x="411480" y="1051560"/>
            <a:ext cx="11475720" cy="18288"/>
          </a:xfrm>
          <a:prstGeom prst="rect">
            <a:avLst/>
          </a:prstGeom>
          <a:solidFill>
            <a:srgbClr val="E1D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3_complements.png"/>
          <p:cNvPicPr>
            <a:picLocks noChangeAspect="1"/>
          </p:cNvPicPr>
          <p:nvPr/>
        </p:nvPicPr>
        <p:blipFill>
          <a:blip r:embed="rId2"/>
          <a:stretch>
            <a:fillRect/>
          </a:stretch>
        </p:blipFill>
        <p:spPr>
          <a:xfrm>
            <a:off x="457200" y="1234440"/>
            <a:ext cx="6949440" cy="4333180"/>
          </a:xfrm>
          <a:prstGeom prst="rect">
            <a:avLst/>
          </a:prstGeom>
        </p:spPr>
      </p:pic>
      <p:sp>
        <p:nvSpPr>
          <p:cNvPr id="7" name="TextBox 6"/>
          <p:cNvSpPr txBox="1"/>
          <p:nvPr/>
        </p:nvSpPr>
        <p:spPr>
          <a:xfrm>
            <a:off x="7589520" y="1280160"/>
            <a:ext cx="4206240" cy="4937760"/>
          </a:xfrm>
          <a:prstGeom prst="rect">
            <a:avLst/>
          </a:prstGeom>
          <a:noFill/>
        </p:spPr>
        <p:txBody>
          <a:bodyPr wrap="square">
            <a:spAutoFit/>
          </a:bodyPr>
          <a:lstStyle/>
          <a:p>
            <a:pPr algn="l">
              <a:lnSpc>
                <a:spcPct val="130000"/>
              </a:lnSpc>
              <a:spcAft>
                <a:spcPts val="600"/>
              </a:spcAft>
            </a:pPr>
            <a:r>
              <a:rPr sz="1150">
                <a:solidFill>
                  <a:srgbClr val="201F1E"/>
                </a:solidFill>
                <a:latin typeface="Calibri"/>
              </a:rPr>
              <a:t>• SAAS value is almost entirely co-produced:</a:t>
            </a:r>
          </a:p>
          <a:p>
            <a:pPr algn="l">
              <a:lnSpc>
                <a:spcPct val="130000"/>
              </a:lnSpc>
              <a:spcAft>
                <a:spcPts val="600"/>
              </a:spcAft>
            </a:pPr>
            <a:r>
              <a:rPr sz="1150">
                <a:solidFill>
                  <a:srgbClr val="201F1E"/>
                </a:solidFill>
                <a:latin typeface="Calibri"/>
              </a:rPr>
              <a:t>   – without assessment calendar → conflict detection is guesswork</a:t>
            </a:r>
          </a:p>
          <a:p>
            <a:pPr algn="l">
              <a:lnSpc>
                <a:spcPct val="130000"/>
              </a:lnSpc>
              <a:spcAft>
                <a:spcPts val="600"/>
              </a:spcAft>
            </a:pPr>
            <a:r>
              <a:rPr sz="1150">
                <a:solidFill>
                  <a:srgbClr val="201F1E"/>
                </a:solidFill>
                <a:latin typeface="Calibri"/>
              </a:rPr>
              <a:t>   – without campus SSO → adoption collapses</a:t>
            </a:r>
          </a:p>
          <a:p>
            <a:pPr algn="l">
              <a:lnSpc>
                <a:spcPct val="130000"/>
              </a:lnSpc>
              <a:spcAft>
                <a:spcPts val="600"/>
              </a:spcAft>
            </a:pPr>
            <a:r>
              <a:rPr sz="1150">
                <a:solidFill>
                  <a:srgbClr val="201F1E"/>
                </a:solidFill>
                <a:latin typeface="Calibri"/>
              </a:rPr>
              <a:t>   – without email / Teams → decisions stall in a queue nobody opens</a:t>
            </a:r>
          </a:p>
          <a:p>
            <a:pPr algn="l">
              <a:lnSpc>
                <a:spcPct val="130000"/>
              </a:lnSpc>
              <a:spcAft>
                <a:spcPts val="600"/>
              </a:spcAft>
            </a:pPr>
            <a:r>
              <a:rPr sz="1150">
                <a:solidFill>
                  <a:srgbClr val="201F1E"/>
                </a:solidFill>
                <a:latin typeface="Calibri"/>
              </a:rPr>
              <a:t>   – without Registry-owned configuration → the system fossilises</a:t>
            </a:r>
          </a:p>
          <a:p>
            <a:pPr algn="l">
              <a:lnSpc>
                <a:spcPct val="130000"/>
              </a:lnSpc>
              <a:spcAft>
                <a:spcPts val="600"/>
              </a:spcAft>
            </a:pPr>
            <a:r>
              <a:rPr sz="1150">
                <a:solidFill>
                  <a:srgbClr val="201F1E"/>
                </a:solidFill>
                <a:latin typeface="Calibri"/>
              </a:rPr>
              <a:t>• Hard work is securing the complements, not writing the application.</a:t>
            </a:r>
          </a:p>
          <a:p>
            <a:pPr algn="l">
              <a:lnSpc>
                <a:spcPct val="130000"/>
              </a:lnSpc>
              <a:spcAft>
                <a:spcPts val="600"/>
              </a:spcAft>
            </a:pPr>
            <a:r>
              <a:rPr sz="1150">
                <a:solidFill>
                  <a:srgbClr val="201F1E"/>
                </a:solidFill>
                <a:latin typeface="Calibri"/>
              </a:rPr>
              <a:t>• Implication: prioritise integration contracts (SIS, LMS, IT) and policy ownership over feature scope in the first release.</a:t>
            </a:r>
          </a:p>
        </p:txBody>
      </p:sp>
      <p:sp>
        <p:nvSpPr>
          <p:cNvPr id="8" name="TextBox 7"/>
          <p:cNvSpPr txBox="1"/>
          <p:nvPr/>
        </p:nvSpPr>
        <p:spPr>
          <a:xfrm>
            <a:off x="411480" y="6400800"/>
            <a:ext cx="7315200" cy="228600"/>
          </a:xfrm>
          <a:prstGeom prst="rect">
            <a:avLst/>
          </a:prstGeom>
          <a:noFill/>
        </p:spPr>
        <p:txBody>
          <a:bodyPr wrap="square" anchor="t" lIns="45720" rIns="45720">
            <a:spAutoFit/>
          </a:bodyPr>
          <a:lstStyle/>
          <a:p>
            <a:pPr algn="l"/>
            <a:r>
              <a:rPr sz="900" b="0">
                <a:solidFill>
                  <a:srgbClr val="6B6B6B"/>
                </a:solidFill>
                <a:latin typeface="Calibri"/>
              </a:rPr>
              <a:t>SAAS · Individual Ideation · Johnny, Jeng-lin Li</a:t>
            </a:r>
          </a:p>
        </p:txBody>
      </p:sp>
      <p:sp>
        <p:nvSpPr>
          <p:cNvPr id="9" name="TextBox 8"/>
          <p:cNvSpPr txBox="1"/>
          <p:nvPr/>
        </p:nvSpPr>
        <p:spPr>
          <a:xfrm>
            <a:off x="10607040" y="6400800"/>
            <a:ext cx="1280160" cy="228600"/>
          </a:xfrm>
          <a:prstGeom prst="rect">
            <a:avLst/>
          </a:prstGeom>
          <a:noFill/>
        </p:spPr>
        <p:txBody>
          <a:bodyPr wrap="square" anchor="t" lIns="45720" rIns="45720">
            <a:spAutoFit/>
          </a:bodyPr>
          <a:lstStyle/>
          <a:p>
            <a:pPr algn="r"/>
            <a:r>
              <a:rPr sz="900" b="0">
                <a:solidFill>
                  <a:srgbClr val="6B6B6B"/>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10896"/>
            <a:ext cx="164592" cy="3840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457200"/>
          </a:xfrm>
          <a:prstGeom prst="rect">
            <a:avLst/>
          </a:prstGeom>
          <a:noFill/>
        </p:spPr>
        <p:txBody>
          <a:bodyPr wrap="square" anchor="t" lIns="45720" rIns="45720">
            <a:spAutoFit/>
          </a:bodyPr>
          <a:lstStyle/>
          <a:p>
            <a:pPr algn="l"/>
            <a:r>
              <a:rPr sz="2200" b="1">
                <a:solidFill>
                  <a:srgbClr val="201F1E"/>
                </a:solidFill>
                <a:latin typeface="Calibri"/>
              </a:rPr>
              <a:t>6 · Course Concept · S-curve</a:t>
            </a:r>
          </a:p>
        </p:txBody>
      </p:sp>
      <p:sp>
        <p:nvSpPr>
          <p:cNvPr id="4" name="TextBox 3"/>
          <p:cNvSpPr txBox="1"/>
          <p:nvPr/>
        </p:nvSpPr>
        <p:spPr>
          <a:xfrm>
            <a:off x="640080" y="713232"/>
            <a:ext cx="10972800" cy="292608"/>
          </a:xfrm>
          <a:prstGeom prst="rect">
            <a:avLst/>
          </a:prstGeom>
          <a:noFill/>
        </p:spPr>
        <p:txBody>
          <a:bodyPr wrap="square" anchor="t" lIns="45720" rIns="45720">
            <a:spAutoFit/>
          </a:bodyPr>
          <a:lstStyle/>
          <a:p>
            <a:pPr algn="l"/>
            <a:r>
              <a:rPr sz="1100" b="0">
                <a:solidFill>
                  <a:srgbClr val="6B6B6B"/>
                </a:solidFill>
                <a:latin typeface="Calibri"/>
              </a:rPr>
              <a:t>Why SAAS is not "a better form" — Utterback &amp; Abernathy (1975); Foster (1986)</a:t>
            </a:r>
          </a:p>
        </p:txBody>
      </p:sp>
      <p:sp>
        <p:nvSpPr>
          <p:cNvPr id="5" name="Rectangle 4"/>
          <p:cNvSpPr/>
          <p:nvPr/>
        </p:nvSpPr>
        <p:spPr>
          <a:xfrm>
            <a:off x="411480" y="1051560"/>
            <a:ext cx="11475720" cy="18288"/>
          </a:xfrm>
          <a:prstGeom prst="rect">
            <a:avLst/>
          </a:prstGeom>
          <a:solidFill>
            <a:srgbClr val="E1D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2_scurve.png"/>
          <p:cNvPicPr>
            <a:picLocks noChangeAspect="1"/>
          </p:cNvPicPr>
          <p:nvPr/>
        </p:nvPicPr>
        <p:blipFill>
          <a:blip r:embed="rId2"/>
          <a:stretch>
            <a:fillRect/>
          </a:stretch>
        </p:blipFill>
        <p:spPr>
          <a:xfrm>
            <a:off x="457200" y="1234440"/>
            <a:ext cx="7315200" cy="4561242"/>
          </a:xfrm>
          <a:prstGeom prst="rect">
            <a:avLst/>
          </a:prstGeom>
        </p:spPr>
      </p:pic>
      <p:sp>
        <p:nvSpPr>
          <p:cNvPr id="7" name="TextBox 6"/>
          <p:cNvSpPr txBox="1"/>
          <p:nvPr/>
        </p:nvSpPr>
        <p:spPr>
          <a:xfrm>
            <a:off x="7955279" y="1280160"/>
            <a:ext cx="3931920" cy="4937760"/>
          </a:xfrm>
          <a:prstGeom prst="rect">
            <a:avLst/>
          </a:prstGeom>
          <a:noFill/>
        </p:spPr>
        <p:txBody>
          <a:bodyPr wrap="square">
            <a:spAutoFit/>
          </a:bodyPr>
          <a:lstStyle/>
          <a:p>
            <a:pPr algn="l">
              <a:lnSpc>
                <a:spcPct val="130000"/>
              </a:lnSpc>
              <a:spcAft>
                <a:spcPts val="600"/>
              </a:spcAft>
            </a:pPr>
            <a:r>
              <a:rPr sz="1100">
                <a:solidFill>
                  <a:srgbClr val="201F1E"/>
                </a:solidFill>
                <a:latin typeface="Calibri"/>
              </a:rPr>
              <a:t>• Rule-based workflow automation sits on the flat, mature part of its curve — competing on form features yields diminishing returns.</a:t>
            </a:r>
          </a:p>
          <a:p>
            <a:pPr algn="l">
              <a:lnSpc>
                <a:spcPct val="130000"/>
              </a:lnSpc>
              <a:spcAft>
                <a:spcPts val="600"/>
              </a:spcAft>
            </a:pPr>
            <a:r>
              <a:rPr sz="1100">
                <a:solidFill>
                  <a:srgbClr val="201F1E"/>
                </a:solidFill>
                <a:latin typeface="Calibri"/>
              </a:rPr>
              <a:t>• SAAS matters only by starting a new curve: joining academic-calendar data to a privacy-aware approval workflow.</a:t>
            </a:r>
          </a:p>
          <a:p>
            <a:pPr algn="l">
              <a:lnSpc>
                <a:spcPct val="130000"/>
              </a:lnSpc>
              <a:spcAft>
                <a:spcPts val="600"/>
              </a:spcAft>
            </a:pPr>
            <a:r>
              <a:rPr sz="1100">
                <a:solidFill>
                  <a:srgbClr val="201F1E"/>
                </a:solidFill>
                <a:latin typeface="Calibri"/>
              </a:rPr>
              <a:t>• Same logic explains the deliberate omission: AI triage and certificate-authenticity checking sit on the steep part of the LLM curve.</a:t>
            </a:r>
          </a:p>
          <a:p>
            <a:pPr algn="l">
              <a:lnSpc>
                <a:spcPct val="130000"/>
              </a:lnSpc>
              <a:spcAft>
                <a:spcPts val="600"/>
              </a:spcAft>
            </a:pPr>
            <a:r>
              <a:rPr sz="1100">
                <a:solidFill>
                  <a:srgbClr val="201F1E"/>
                </a:solidFill>
                <a:latin typeface="Calibri"/>
              </a:rPr>
              <a:t>• A wrong automated decision in a high-stakes academic process is unacceptable; these features wait until reliability crosses the threshold.</a:t>
            </a:r>
          </a:p>
        </p:txBody>
      </p:sp>
      <p:sp>
        <p:nvSpPr>
          <p:cNvPr id="8" name="TextBox 7"/>
          <p:cNvSpPr txBox="1"/>
          <p:nvPr/>
        </p:nvSpPr>
        <p:spPr>
          <a:xfrm>
            <a:off x="411480" y="6400800"/>
            <a:ext cx="7315200" cy="228600"/>
          </a:xfrm>
          <a:prstGeom prst="rect">
            <a:avLst/>
          </a:prstGeom>
          <a:noFill/>
        </p:spPr>
        <p:txBody>
          <a:bodyPr wrap="square" anchor="t" lIns="45720" rIns="45720">
            <a:spAutoFit/>
          </a:bodyPr>
          <a:lstStyle/>
          <a:p>
            <a:pPr algn="l"/>
            <a:r>
              <a:rPr sz="900" b="0">
                <a:solidFill>
                  <a:srgbClr val="6B6B6B"/>
                </a:solidFill>
                <a:latin typeface="Calibri"/>
              </a:rPr>
              <a:t>SAAS · Individual Ideation · Johnny, Jeng-lin Li</a:t>
            </a:r>
          </a:p>
        </p:txBody>
      </p:sp>
      <p:sp>
        <p:nvSpPr>
          <p:cNvPr id="9" name="TextBox 8"/>
          <p:cNvSpPr txBox="1"/>
          <p:nvPr/>
        </p:nvSpPr>
        <p:spPr>
          <a:xfrm>
            <a:off x="10607040" y="6400800"/>
            <a:ext cx="1280160" cy="228600"/>
          </a:xfrm>
          <a:prstGeom prst="rect">
            <a:avLst/>
          </a:prstGeom>
          <a:noFill/>
        </p:spPr>
        <p:txBody>
          <a:bodyPr wrap="square" anchor="t" lIns="45720" rIns="45720">
            <a:spAutoFit/>
          </a:bodyPr>
          <a:lstStyle/>
          <a:p>
            <a:pPr algn="r"/>
            <a:r>
              <a:rPr sz="900" b="0">
                <a:solidFill>
                  <a:srgbClr val="6B6B6B"/>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10896"/>
            <a:ext cx="164592" cy="3840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457200"/>
          </a:xfrm>
          <a:prstGeom prst="rect">
            <a:avLst/>
          </a:prstGeom>
          <a:noFill/>
        </p:spPr>
        <p:txBody>
          <a:bodyPr wrap="square" anchor="t" lIns="45720" rIns="45720">
            <a:spAutoFit/>
          </a:bodyPr>
          <a:lstStyle/>
          <a:p>
            <a:pPr algn="l"/>
            <a:r>
              <a:rPr sz="2200" b="1">
                <a:solidFill>
                  <a:srgbClr val="201F1E"/>
                </a:solidFill>
                <a:latin typeface="Calibri"/>
              </a:rPr>
              <a:t>7 · Business Value</a:t>
            </a:r>
          </a:p>
        </p:txBody>
      </p:sp>
      <p:sp>
        <p:nvSpPr>
          <p:cNvPr id="4" name="TextBox 3"/>
          <p:cNvSpPr txBox="1"/>
          <p:nvPr/>
        </p:nvSpPr>
        <p:spPr>
          <a:xfrm>
            <a:off x="640080" y="713232"/>
            <a:ext cx="10972800" cy="292608"/>
          </a:xfrm>
          <a:prstGeom prst="rect">
            <a:avLst/>
          </a:prstGeom>
          <a:noFill/>
        </p:spPr>
        <p:txBody>
          <a:bodyPr wrap="square" anchor="t" lIns="45720" rIns="45720">
            <a:spAutoFit/>
          </a:bodyPr>
          <a:lstStyle/>
          <a:p>
            <a:pPr algn="l"/>
            <a:r>
              <a:rPr sz="1100" b="0">
                <a:solidFill>
                  <a:srgbClr val="6B6B6B"/>
                </a:solidFill>
                <a:latin typeface="Calibri"/>
              </a:rPr>
              <a:t>An institutional licence; measurable cost becomes visible</a:t>
            </a:r>
          </a:p>
        </p:txBody>
      </p:sp>
      <p:sp>
        <p:nvSpPr>
          <p:cNvPr id="5" name="Rectangle 4"/>
          <p:cNvSpPr/>
          <p:nvPr/>
        </p:nvSpPr>
        <p:spPr>
          <a:xfrm>
            <a:off x="411480" y="1051560"/>
            <a:ext cx="11475720" cy="18288"/>
          </a:xfrm>
          <a:prstGeom prst="rect">
            <a:avLst/>
          </a:prstGeom>
          <a:solidFill>
            <a:srgbClr val="E1D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80160"/>
            <a:ext cx="6949440" cy="4937760"/>
          </a:xfrm>
          <a:prstGeom prst="rect">
            <a:avLst/>
          </a:prstGeom>
          <a:noFill/>
        </p:spPr>
        <p:txBody>
          <a:bodyPr wrap="square">
            <a:spAutoFit/>
          </a:bodyPr>
          <a:lstStyle/>
          <a:p>
            <a:pPr algn="l">
              <a:lnSpc>
                <a:spcPct val="130000"/>
              </a:lnSpc>
              <a:spcAft>
                <a:spcPts val="600"/>
              </a:spcAft>
            </a:pPr>
            <a:r>
              <a:rPr sz="1200">
                <a:solidFill>
                  <a:srgbClr val="201F1E"/>
                </a:solidFill>
                <a:latin typeface="Calibri"/>
              </a:rPr>
              <a:t>• Payer: the university (Registry + IT), annual licence by student population; students &amp; instructors pay only in time.</a:t>
            </a:r>
          </a:p>
          <a:p>
            <a:pPr algn="l">
              <a:lnSpc>
                <a:spcPct val="130000"/>
              </a:lnSpc>
              <a:spcAft>
                <a:spcPts val="600"/>
              </a:spcAft>
            </a:pPr>
            <a:r>
              <a:rPr sz="1200">
                <a:solidFill>
                  <a:srgbClr val="201F1E"/>
                </a:solidFill>
                <a:latin typeface="Calibri"/>
              </a:rPr>
              <a:t>• Business model: 3 revenue lines — annual licence + implementation fee + configuration support.</a:t>
            </a:r>
          </a:p>
          <a:p>
            <a:pPr algn="l">
              <a:lnSpc>
                <a:spcPct val="130000"/>
              </a:lnSpc>
              <a:spcAft>
                <a:spcPts val="600"/>
              </a:spcAft>
            </a:pPr>
            <a:r>
              <a:rPr sz="1200">
                <a:solidFill>
                  <a:srgbClr val="201F1E"/>
                </a:solidFill>
                <a:latin typeface="Calibri"/>
              </a:rPr>
              <a:t>• Value: makes an invisible cost visible, then reduces it.</a:t>
            </a:r>
          </a:p>
          <a:p>
            <a:pPr algn="l">
              <a:lnSpc>
                <a:spcPct val="130000"/>
              </a:lnSpc>
              <a:spcAft>
                <a:spcPts val="600"/>
              </a:spcAft>
            </a:pPr>
            <a:r>
              <a:rPr sz="1200">
                <a:solidFill>
                  <a:srgbClr val="201F1E"/>
                </a:solidFill>
                <a:latin typeface="Calibri"/>
              </a:rPr>
              <a:t>   – Instructor hours on absence email &amp; ad-hoc negotiation</a:t>
            </a:r>
          </a:p>
          <a:p>
            <a:pPr algn="l">
              <a:lnSpc>
                <a:spcPct val="130000"/>
              </a:lnSpc>
              <a:spcAft>
                <a:spcPts val="600"/>
              </a:spcAft>
            </a:pPr>
            <a:r>
              <a:rPr sz="1200">
                <a:solidFill>
                  <a:srgbClr val="201F1E"/>
                </a:solidFill>
                <a:latin typeface="Calibri"/>
              </a:rPr>
              <a:t>   – Admin effort on disputes, duplicate records, manual audits</a:t>
            </a:r>
          </a:p>
          <a:p>
            <a:pPr algn="l">
              <a:lnSpc>
                <a:spcPct val="130000"/>
              </a:lnSpc>
              <a:spcAft>
                <a:spcPts val="600"/>
              </a:spcAft>
            </a:pPr>
            <a:r>
              <a:rPr sz="1200">
                <a:solidFill>
                  <a:srgbClr val="201F1E"/>
                </a:solidFill>
                <a:latin typeface="Calibri"/>
              </a:rPr>
              <a:t>   – Compliance risk of holding no defensible record</a:t>
            </a:r>
          </a:p>
          <a:p>
            <a:pPr algn="l">
              <a:lnSpc>
                <a:spcPct val="130000"/>
              </a:lnSpc>
              <a:spcAft>
                <a:spcPts val="600"/>
              </a:spcAft>
            </a:pPr>
            <a:r>
              <a:rPr sz="1200">
                <a:solidFill>
                  <a:srgbClr val="201F1E"/>
                </a:solidFill>
                <a:latin typeface="Calibri"/>
              </a:rPr>
              <a:t>• Indicative scale: 10k students / 800 faculty → several thousand fragmented hours / yr; 30–50% reduction is material (illustrative).</a:t>
            </a:r>
          </a:p>
          <a:p>
            <a:pPr algn="l">
              <a:lnSpc>
                <a:spcPct val="130000"/>
              </a:lnSpc>
              <a:spcAft>
                <a:spcPts val="600"/>
              </a:spcAft>
            </a:pPr>
            <a:r>
              <a:rPr sz="1200">
                <a:solidFill>
                  <a:srgbClr val="201F1E"/>
                </a:solidFill>
                <a:latin typeface="Calibri"/>
              </a:rPr>
              <a:t>• Moat: policy-configuration layer + portability across HKUST(GZ)/HKUST/CUHK(SZ).</a:t>
            </a:r>
          </a:p>
          <a:p>
            <a:pPr algn="l">
              <a:lnSpc>
                <a:spcPct val="130000"/>
              </a:lnSpc>
              <a:spcAft>
                <a:spcPts val="600"/>
              </a:spcAft>
            </a:pPr>
            <a:r>
              <a:rPr sz="1200">
                <a:solidFill>
                  <a:srgbClr val="201F1E"/>
                </a:solidFill>
                <a:latin typeface="Calibri"/>
              </a:rPr>
              <a:t>• Compliance as a driver: UKVI / ESOS / FERPA → "regulatory defensibility" shortens sales cycles &amp; widens the market.</a:t>
            </a:r>
          </a:p>
        </p:txBody>
      </p:sp>
      <p:sp>
        <p:nvSpPr>
          <p:cNvPr id="7" name="Rectangle 6"/>
          <p:cNvSpPr/>
          <p:nvPr/>
        </p:nvSpPr>
        <p:spPr>
          <a:xfrm>
            <a:off x="7635240" y="1280160"/>
            <a:ext cx="4206240" cy="4937760"/>
          </a:xfrm>
          <a:prstGeom prst="rect">
            <a:avLst/>
          </a:prstGeom>
          <a:solidFill>
            <a:srgbClr val="F0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1371600"/>
            <a:ext cx="4023360" cy="320040"/>
          </a:xfrm>
          <a:prstGeom prst="rect">
            <a:avLst/>
          </a:prstGeom>
          <a:noFill/>
        </p:spPr>
        <p:txBody>
          <a:bodyPr wrap="square" anchor="t" lIns="45720" rIns="45720">
            <a:spAutoFit/>
          </a:bodyPr>
          <a:lstStyle/>
          <a:p>
            <a:pPr algn="l"/>
            <a:r>
              <a:rPr sz="1200" b="1">
                <a:solidFill>
                  <a:srgbClr val="6C4AB6"/>
                </a:solidFill>
                <a:latin typeface="Calibri"/>
              </a:rPr>
              <a:t>Why choose it over alternatives?</a:t>
            </a:r>
          </a:p>
        </p:txBody>
      </p:sp>
      <p:sp>
        <p:nvSpPr>
          <p:cNvPr id="9" name="TextBox 8"/>
          <p:cNvSpPr txBox="1"/>
          <p:nvPr/>
        </p:nvSpPr>
        <p:spPr>
          <a:xfrm>
            <a:off x="7726679" y="1691640"/>
            <a:ext cx="4023360" cy="4297680"/>
          </a:xfrm>
          <a:prstGeom prst="rect">
            <a:avLst/>
          </a:prstGeom>
          <a:noFill/>
        </p:spPr>
        <p:txBody>
          <a:bodyPr wrap="square">
            <a:spAutoFit/>
          </a:bodyPr>
          <a:lstStyle/>
          <a:p>
            <a:pPr algn="l">
              <a:lnSpc>
                <a:spcPct val="130000"/>
              </a:lnSpc>
              <a:spcAft>
                <a:spcPts val="600"/>
              </a:spcAft>
            </a:pPr>
            <a:r>
              <a:rPr sz="1100">
                <a:solidFill>
                  <a:srgbClr val="201F1E"/>
                </a:solidFill>
                <a:latin typeface="Calibri"/>
              </a:rPr>
              <a:t>• Generic form tool → cannot see the timetable.</a:t>
            </a:r>
          </a:p>
          <a:p>
            <a:pPr algn="l">
              <a:lnSpc>
                <a:spcPct val="130000"/>
              </a:lnSpc>
              <a:spcAft>
                <a:spcPts val="600"/>
              </a:spcAft>
            </a:pPr>
            <a:r>
              <a:rPr sz="1100">
                <a:solidFill>
                  <a:srgbClr val="201F1E"/>
                </a:solidFill>
                <a:latin typeface="Calibri"/>
              </a:rPr>
              <a:t>• LMS attendance module → records absence, but cannot distribute an accommodation decision.</a:t>
            </a:r>
          </a:p>
          <a:p>
            <a:pPr algn="l">
              <a:lnSpc>
                <a:spcPct val="130000"/>
              </a:lnSpc>
              <a:spcAft>
                <a:spcPts val="600"/>
              </a:spcAft>
            </a:pPr>
            <a:r>
              <a:rPr sz="1100">
                <a:solidFill>
                  <a:srgbClr val="201F1E"/>
                </a:solidFill>
                <a:latin typeface="Calibri"/>
              </a:rPr>
              <a:t>• Building in-house → hard-codes one university's policy.</a:t>
            </a:r>
          </a:p>
          <a:p>
            <a:pPr algn="l">
              <a:lnSpc>
                <a:spcPct val="130000"/>
              </a:lnSpc>
              <a:spcAft>
                <a:spcPts val="600"/>
              </a:spcAft>
            </a:pPr>
            <a:r>
              <a:rPr sz="1100">
                <a:solidFill>
                  <a:srgbClr val="201F1E"/>
                </a:solidFill>
                <a:latin typeface="Calibri"/>
              </a:rPr>
              <a:t>• SAAS → auditable decision history + configurable policy + portable across institutions.</a:t>
            </a:r>
          </a:p>
        </p:txBody>
      </p:sp>
      <p:sp>
        <p:nvSpPr>
          <p:cNvPr id="10" name="TextBox 9"/>
          <p:cNvSpPr txBox="1"/>
          <p:nvPr/>
        </p:nvSpPr>
        <p:spPr>
          <a:xfrm>
            <a:off x="411480" y="6400800"/>
            <a:ext cx="7315200" cy="228600"/>
          </a:xfrm>
          <a:prstGeom prst="rect">
            <a:avLst/>
          </a:prstGeom>
          <a:noFill/>
        </p:spPr>
        <p:txBody>
          <a:bodyPr wrap="square" anchor="t" lIns="45720" rIns="45720">
            <a:spAutoFit/>
          </a:bodyPr>
          <a:lstStyle/>
          <a:p>
            <a:pPr algn="l"/>
            <a:r>
              <a:rPr sz="900" b="0">
                <a:solidFill>
                  <a:srgbClr val="6B6B6B"/>
                </a:solidFill>
                <a:latin typeface="Calibri"/>
              </a:rPr>
              <a:t>SAAS · Individual Ideation · Johnny, Jeng-lin Li</a:t>
            </a:r>
          </a:p>
        </p:txBody>
      </p:sp>
      <p:sp>
        <p:nvSpPr>
          <p:cNvPr id="11" name="TextBox 10"/>
          <p:cNvSpPr txBox="1"/>
          <p:nvPr/>
        </p:nvSpPr>
        <p:spPr>
          <a:xfrm>
            <a:off x="10607040" y="6400800"/>
            <a:ext cx="1280160" cy="228600"/>
          </a:xfrm>
          <a:prstGeom prst="rect">
            <a:avLst/>
          </a:prstGeom>
          <a:noFill/>
        </p:spPr>
        <p:txBody>
          <a:bodyPr wrap="square" anchor="t" lIns="45720" rIns="45720">
            <a:spAutoFit/>
          </a:bodyPr>
          <a:lstStyle/>
          <a:p>
            <a:pPr algn="r"/>
            <a:r>
              <a:rPr sz="900" b="0">
                <a:solidFill>
                  <a:srgbClr val="6B6B6B"/>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10896"/>
            <a:ext cx="164592" cy="3840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457200"/>
          </a:xfrm>
          <a:prstGeom prst="rect">
            <a:avLst/>
          </a:prstGeom>
          <a:noFill/>
        </p:spPr>
        <p:txBody>
          <a:bodyPr wrap="square" anchor="t" lIns="45720" rIns="45720">
            <a:spAutoFit/>
          </a:bodyPr>
          <a:lstStyle/>
          <a:p>
            <a:pPr algn="l"/>
            <a:r>
              <a:rPr sz="2200" b="1">
                <a:solidFill>
                  <a:srgbClr val="201F1E"/>
                </a:solidFill>
                <a:latin typeface="Calibri"/>
              </a:rPr>
              <a:t>8 · Social Impact &amp; Risks</a:t>
            </a:r>
          </a:p>
        </p:txBody>
      </p:sp>
      <p:sp>
        <p:nvSpPr>
          <p:cNvPr id="4" name="TextBox 3"/>
          <p:cNvSpPr txBox="1"/>
          <p:nvPr/>
        </p:nvSpPr>
        <p:spPr>
          <a:xfrm>
            <a:off x="640080" y="713232"/>
            <a:ext cx="10972800" cy="292608"/>
          </a:xfrm>
          <a:prstGeom prst="rect">
            <a:avLst/>
          </a:prstGeom>
          <a:noFill/>
        </p:spPr>
        <p:txBody>
          <a:bodyPr wrap="square" anchor="t" lIns="45720" rIns="45720">
            <a:spAutoFit/>
          </a:bodyPr>
          <a:lstStyle/>
          <a:p>
            <a:pPr algn="l"/>
            <a:r>
              <a:rPr sz="1100" b="0">
                <a:solidFill>
                  <a:srgbClr val="6B6B6B"/>
                </a:solidFill>
                <a:latin typeface="Calibri"/>
              </a:rPr>
              <a:t>Equity gains are uneven; data is a double-edged good</a:t>
            </a:r>
          </a:p>
        </p:txBody>
      </p:sp>
      <p:sp>
        <p:nvSpPr>
          <p:cNvPr id="5" name="Rectangle 4"/>
          <p:cNvSpPr/>
          <p:nvPr/>
        </p:nvSpPr>
        <p:spPr>
          <a:xfrm>
            <a:off x="411480" y="1051560"/>
            <a:ext cx="11475720" cy="18288"/>
          </a:xfrm>
          <a:prstGeom prst="rect">
            <a:avLst/>
          </a:prstGeom>
          <a:solidFill>
            <a:srgbClr val="E1D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80160"/>
            <a:ext cx="5486400" cy="4206240"/>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303520" cy="320040"/>
          </a:xfrm>
          <a:prstGeom prst="rect">
            <a:avLst/>
          </a:prstGeom>
          <a:noFill/>
        </p:spPr>
        <p:txBody>
          <a:bodyPr wrap="square" anchor="t" lIns="45720" rIns="45720">
            <a:spAutoFit/>
          </a:bodyPr>
          <a:lstStyle/>
          <a:p>
            <a:pPr algn="l"/>
            <a:r>
              <a:rPr sz="1200" b="1">
                <a:solidFill>
                  <a:srgbClr val="0E7A3D"/>
                </a:solidFill>
                <a:latin typeface="Calibri"/>
              </a:rPr>
              <a:t>Positive impact</a:t>
            </a:r>
          </a:p>
        </p:txBody>
      </p:sp>
      <p:sp>
        <p:nvSpPr>
          <p:cNvPr id="8" name="TextBox 7"/>
          <p:cNvSpPr txBox="1"/>
          <p:nvPr/>
        </p:nvSpPr>
        <p:spPr>
          <a:xfrm>
            <a:off x="594360" y="1691640"/>
            <a:ext cx="5303520" cy="3657600"/>
          </a:xfrm>
          <a:prstGeom prst="rect">
            <a:avLst/>
          </a:prstGeom>
          <a:noFill/>
        </p:spPr>
        <p:txBody>
          <a:bodyPr wrap="square">
            <a:spAutoFit/>
          </a:bodyPr>
          <a:lstStyle/>
          <a:p>
            <a:pPr algn="l">
              <a:lnSpc>
                <a:spcPct val="130000"/>
              </a:lnSpc>
              <a:spcAft>
                <a:spcPts val="600"/>
              </a:spcAft>
            </a:pPr>
            <a:r>
              <a:rPr sz="1100">
                <a:solidFill>
                  <a:srgbClr val="201F1E"/>
                </a:solidFill>
                <a:latin typeface="Calibri"/>
              </a:rPr>
              <a:t>• Equity by structure: outcome stops depending on who you ask or how persuasive your email is.</a:t>
            </a:r>
          </a:p>
          <a:p>
            <a:pPr algn="l">
              <a:lnSpc>
                <a:spcPct val="130000"/>
              </a:lnSpc>
              <a:spcAft>
                <a:spcPts val="600"/>
              </a:spcAft>
            </a:pPr>
            <a:r>
              <a:rPr sz="1100">
                <a:solidFill>
                  <a:srgbClr val="201F1E"/>
                </a:solidFill>
                <a:latin typeface="Calibri"/>
              </a:rPr>
              <a:t>• Recurring-need students (chronic illness, caregiving, visa, athletes) gain most — the system carries context instead of forcing retellings.</a:t>
            </a:r>
          </a:p>
          <a:p>
            <a:pPr algn="l">
              <a:lnSpc>
                <a:spcPct val="130000"/>
              </a:lnSpc>
              <a:spcAft>
                <a:spcPts val="600"/>
              </a:spcAft>
            </a:pPr>
            <a:r>
              <a:rPr sz="1100">
                <a:solidFill>
                  <a:srgbClr val="201F1E"/>
                </a:solidFill>
                <a:latin typeface="Calibri"/>
              </a:rPr>
              <a:t>• Protects international students: visa attendance duties (UKVI / ESOS) — a legitimate absence should not become a compliance breach.</a:t>
            </a:r>
          </a:p>
          <a:p>
            <a:pPr algn="l">
              <a:lnSpc>
                <a:spcPct val="130000"/>
              </a:lnSpc>
              <a:spcAft>
                <a:spcPts val="600"/>
              </a:spcAft>
            </a:pPr>
            <a:r>
              <a:rPr sz="1100">
                <a:solidFill>
                  <a:srgbClr val="201F1E"/>
                </a:solidFill>
                <a:latin typeface="Calibri"/>
              </a:rPr>
              <a:t>• Early-warning rules can reach a struggling student before grades fail — an administrative record becomes a welfare signal.</a:t>
            </a:r>
          </a:p>
        </p:txBody>
      </p:sp>
      <p:sp>
        <p:nvSpPr>
          <p:cNvPr id="9" name="Rectangle 8"/>
          <p:cNvSpPr/>
          <p:nvPr/>
        </p:nvSpPr>
        <p:spPr>
          <a:xfrm>
            <a:off x="6172200" y="1280160"/>
            <a:ext cx="5669280" cy="4206240"/>
          </a:xfrm>
          <a:prstGeom prst="rect">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486400" cy="320040"/>
          </a:xfrm>
          <a:prstGeom prst="rect">
            <a:avLst/>
          </a:prstGeom>
          <a:noFill/>
        </p:spPr>
        <p:txBody>
          <a:bodyPr wrap="square" anchor="t" lIns="45720" rIns="45720">
            <a:spAutoFit/>
          </a:bodyPr>
          <a:lstStyle/>
          <a:p>
            <a:pPr algn="l"/>
            <a:r>
              <a:rPr sz="1200" b="1">
                <a:solidFill>
                  <a:srgbClr val="B10E1C"/>
                </a:solidFill>
                <a:latin typeface="Calibri"/>
              </a:rPr>
              <a:t>Risks &amp; mitigations</a:t>
            </a:r>
          </a:p>
        </p:txBody>
      </p:sp>
      <p:sp>
        <p:nvSpPr>
          <p:cNvPr id="11" name="TextBox 10"/>
          <p:cNvSpPr txBox="1"/>
          <p:nvPr/>
        </p:nvSpPr>
        <p:spPr>
          <a:xfrm>
            <a:off x="6263640" y="1691640"/>
            <a:ext cx="5486400" cy="3657600"/>
          </a:xfrm>
          <a:prstGeom prst="rect">
            <a:avLst/>
          </a:prstGeom>
          <a:noFill/>
        </p:spPr>
        <p:txBody>
          <a:bodyPr wrap="square">
            <a:spAutoFit/>
          </a:bodyPr>
          <a:lstStyle/>
          <a:p>
            <a:pPr algn="l">
              <a:lnSpc>
                <a:spcPct val="130000"/>
              </a:lnSpc>
              <a:spcAft>
                <a:spcPts val="600"/>
              </a:spcAft>
            </a:pPr>
            <a:r>
              <a:rPr sz="1100">
                <a:solidFill>
                  <a:srgbClr val="201F1E"/>
                </a:solidFill>
                <a:latin typeface="Calibri"/>
              </a:rPr>
              <a:t>• Gains are uneven: well-connected students adopt earliest; need an assisted non-digital route.</a:t>
            </a:r>
          </a:p>
          <a:p>
            <a:pPr algn="l">
              <a:lnSpc>
                <a:spcPct val="130000"/>
              </a:lnSpc>
              <a:spcAft>
                <a:spcPts val="600"/>
              </a:spcAft>
            </a:pPr>
            <a:r>
              <a:rPr sz="1100">
                <a:solidFill>
                  <a:srgbClr val="201F1E"/>
                </a:solidFill>
                <a:latin typeface="Calibri"/>
              </a:rPr>
              <a:t>• Surveillance: risk scoring may stigmatise; medical documents are among the most sensitive records a university holds.</a:t>
            </a:r>
          </a:p>
          <a:p>
            <a:pPr algn="l">
              <a:lnSpc>
                <a:spcPct val="130000"/>
              </a:lnSpc>
              <a:spcAft>
                <a:spcPts val="600"/>
              </a:spcAft>
            </a:pPr>
            <a:r>
              <a:rPr sz="1100">
                <a:solidFill>
                  <a:srgbClr val="201F1E"/>
                </a:solidFill>
                <a:latin typeface="Calibri"/>
              </a:rPr>
              <a:t>• Automation bias: instructors may ratify whatever the queue presents.</a:t>
            </a:r>
          </a:p>
          <a:p>
            <a:pPr algn="l">
              <a:lnSpc>
                <a:spcPct val="130000"/>
              </a:lnSpc>
              <a:spcAft>
                <a:spcPts val="600"/>
              </a:spcAft>
            </a:pPr>
            <a:r>
              <a:rPr sz="1100">
                <a:solidFill>
                  <a:srgbClr val="201F1E"/>
                </a:solidFill>
                <a:latin typeface="Calibri"/>
              </a:rPr>
              <a:t>• Employment effect: administrative staff shift from email triage to case management (a change in skills, not simply less work).</a:t>
            </a:r>
          </a:p>
          <a:p>
            <a:pPr algn="l">
              <a:lnSpc>
                <a:spcPct val="130000"/>
              </a:lnSpc>
              <a:spcAft>
                <a:spcPts val="600"/>
              </a:spcAft>
            </a:pPr>
            <a:r>
              <a:rPr sz="1100">
                <a:solidFill>
                  <a:srgbClr val="201F1E"/>
                </a:solidFill>
                <a:latin typeface="Calibri"/>
              </a:rPr>
              <a:t>• Mitigations built in: instructors never see medical reasons; every decision stays human; retention periods fixed; AI is advisory, logged and refusable.</a:t>
            </a:r>
          </a:p>
        </p:txBody>
      </p:sp>
      <p:sp>
        <p:nvSpPr>
          <p:cNvPr id="12" name="TextBox 11"/>
          <p:cNvSpPr txBox="1"/>
          <p:nvPr/>
        </p:nvSpPr>
        <p:spPr>
          <a:xfrm>
            <a:off x="411480" y="6400800"/>
            <a:ext cx="7315200" cy="228600"/>
          </a:xfrm>
          <a:prstGeom prst="rect">
            <a:avLst/>
          </a:prstGeom>
          <a:noFill/>
        </p:spPr>
        <p:txBody>
          <a:bodyPr wrap="square" anchor="t" lIns="45720" rIns="45720">
            <a:spAutoFit/>
          </a:bodyPr>
          <a:lstStyle/>
          <a:p>
            <a:pPr algn="l"/>
            <a:r>
              <a:rPr sz="900" b="0">
                <a:solidFill>
                  <a:srgbClr val="6B6B6B"/>
                </a:solidFill>
                <a:latin typeface="Calibri"/>
              </a:rPr>
              <a:t>SAAS · Individual Ideation · Johnny, Jeng-lin Li</a:t>
            </a:r>
          </a:p>
        </p:txBody>
      </p:sp>
      <p:sp>
        <p:nvSpPr>
          <p:cNvPr id="13" name="TextBox 12"/>
          <p:cNvSpPr txBox="1"/>
          <p:nvPr/>
        </p:nvSpPr>
        <p:spPr>
          <a:xfrm>
            <a:off x="10607040" y="6400800"/>
            <a:ext cx="1280160" cy="228600"/>
          </a:xfrm>
          <a:prstGeom prst="rect">
            <a:avLst/>
          </a:prstGeom>
          <a:noFill/>
        </p:spPr>
        <p:txBody>
          <a:bodyPr wrap="square" anchor="t" lIns="45720" rIns="45720">
            <a:spAutoFit/>
          </a:bodyPr>
          <a:lstStyle/>
          <a:p>
            <a:pPr algn="r"/>
            <a:r>
              <a:rPr sz="900" b="0">
                <a:solidFill>
                  <a:srgbClr val="6B6B6B"/>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310896"/>
            <a:ext cx="164592" cy="3840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457200"/>
          </a:xfrm>
          <a:prstGeom prst="rect">
            <a:avLst/>
          </a:prstGeom>
          <a:noFill/>
        </p:spPr>
        <p:txBody>
          <a:bodyPr wrap="square" anchor="t" lIns="45720" rIns="45720">
            <a:spAutoFit/>
          </a:bodyPr>
          <a:lstStyle/>
          <a:p>
            <a:pPr algn="l"/>
            <a:r>
              <a:rPr sz="2200" b="1">
                <a:solidFill>
                  <a:srgbClr val="201F1E"/>
                </a:solidFill>
                <a:latin typeface="Calibri"/>
              </a:rPr>
              <a:t>9 · Final Reflection</a:t>
            </a:r>
          </a:p>
        </p:txBody>
      </p:sp>
      <p:sp>
        <p:nvSpPr>
          <p:cNvPr id="4" name="TextBox 3"/>
          <p:cNvSpPr txBox="1"/>
          <p:nvPr/>
        </p:nvSpPr>
        <p:spPr>
          <a:xfrm>
            <a:off x="640080" y="713232"/>
            <a:ext cx="10972800" cy="292608"/>
          </a:xfrm>
          <a:prstGeom prst="rect">
            <a:avLst/>
          </a:prstGeom>
          <a:noFill/>
        </p:spPr>
        <p:txBody>
          <a:bodyPr wrap="square" anchor="t" lIns="45720" rIns="45720">
            <a:spAutoFit/>
          </a:bodyPr>
          <a:lstStyle/>
          <a:p>
            <a:pPr algn="l"/>
            <a:r>
              <a:rPr sz="1100" b="0">
                <a:solidFill>
                  <a:srgbClr val="6B6B6B"/>
                </a:solidFill>
                <a:latin typeface="Calibri"/>
              </a:rPr>
              <a:t>Worth developing — but narrowed</a:t>
            </a:r>
          </a:p>
        </p:txBody>
      </p:sp>
      <p:sp>
        <p:nvSpPr>
          <p:cNvPr id="5" name="Rectangle 4"/>
          <p:cNvSpPr/>
          <p:nvPr/>
        </p:nvSpPr>
        <p:spPr>
          <a:xfrm>
            <a:off x="411480" y="1051560"/>
            <a:ext cx="11475720" cy="18288"/>
          </a:xfrm>
          <a:prstGeom prst="rect">
            <a:avLst/>
          </a:prstGeom>
          <a:solidFill>
            <a:srgbClr val="E1D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80160"/>
            <a:ext cx="11338560" cy="3200400"/>
          </a:xfrm>
          <a:prstGeom prst="rect">
            <a:avLst/>
          </a:prstGeom>
          <a:noFill/>
        </p:spPr>
        <p:txBody>
          <a:bodyPr wrap="square">
            <a:spAutoFit/>
          </a:bodyPr>
          <a:lstStyle/>
          <a:p>
            <a:pPr algn="l">
              <a:lnSpc>
                <a:spcPct val="130000"/>
              </a:lnSpc>
              <a:spcAft>
                <a:spcPts val="600"/>
              </a:spcAft>
            </a:pPr>
            <a:r>
              <a:rPr sz="1400">
                <a:solidFill>
                  <a:srgbClr val="201F1E"/>
                </a:solidFill>
                <a:latin typeface="Calibri"/>
              </a:rPr>
              <a:t>• Yes, develop further as a team project — the problem is real and bounded, the complements already exist on campus, and its hardest questions are organisational rather than technical, which makes it a genuine test of collaborative innovation.</a:t>
            </a:r>
          </a:p>
          <a:p>
            <a:pPr algn="l">
              <a:lnSpc>
                <a:spcPct val="130000"/>
              </a:lnSpc>
              <a:spcAft>
                <a:spcPts val="600"/>
              </a:spcAft>
            </a:pPr>
            <a:r>
              <a:rPr sz="1400">
                <a:solidFill>
                  <a:srgbClr val="201F1E"/>
                </a:solidFill>
                <a:latin typeface="Calibri"/>
              </a:rPr>
              <a:t>• But narrow scope: the full system is too large for one term.</a:t>
            </a:r>
          </a:p>
          <a:p>
            <a:pPr algn="l">
              <a:lnSpc>
                <a:spcPct val="130000"/>
              </a:lnSpc>
              <a:spcAft>
                <a:spcPts val="600"/>
              </a:spcAft>
            </a:pPr>
            <a:r>
              <a:rPr sz="1400">
                <a:solidFill>
                  <a:srgbClr val="201F1E"/>
                </a:solidFill>
                <a:latin typeface="Calibri"/>
              </a:rPr>
              <a:t>• Recommend scoping the team project to the assessment-conflict workflow, where both the value and the privacy tension are sharpest.</a:t>
            </a:r>
          </a:p>
        </p:txBody>
      </p:sp>
      <p:sp>
        <p:nvSpPr>
          <p:cNvPr id="7" name="Rectangle 6"/>
          <p:cNvSpPr/>
          <p:nvPr/>
        </p:nvSpPr>
        <p:spPr>
          <a:xfrm>
            <a:off x="502920" y="4754880"/>
            <a:ext cx="11338560" cy="13716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846320"/>
            <a:ext cx="10972800" cy="320040"/>
          </a:xfrm>
          <a:prstGeom prst="rect">
            <a:avLst/>
          </a:prstGeom>
          <a:noFill/>
        </p:spPr>
        <p:txBody>
          <a:bodyPr wrap="square" anchor="t" lIns="45720" rIns="45720">
            <a:spAutoFit/>
          </a:bodyPr>
          <a:lstStyle/>
          <a:p>
            <a:pPr algn="l"/>
            <a:r>
              <a:rPr sz="1200" b="1">
                <a:solidFill>
                  <a:srgbClr val="201F1E"/>
                </a:solidFill>
                <a:latin typeface="Calibri"/>
              </a:rPr>
              <a:t>References</a:t>
            </a:r>
          </a:p>
        </p:txBody>
      </p:sp>
      <p:sp>
        <p:nvSpPr>
          <p:cNvPr id="9" name="TextBox 8"/>
          <p:cNvSpPr txBox="1"/>
          <p:nvPr/>
        </p:nvSpPr>
        <p:spPr>
          <a:xfrm>
            <a:off x="640080" y="5166360"/>
            <a:ext cx="10972800" cy="914400"/>
          </a:xfrm>
          <a:prstGeom prst="rect">
            <a:avLst/>
          </a:prstGeom>
          <a:noFill/>
        </p:spPr>
        <p:txBody>
          <a:bodyPr wrap="square" anchor="t" lIns="45720" rIns="45720">
            <a:spAutoFit/>
          </a:bodyPr>
          <a:lstStyle/>
          <a:p>
            <a:pPr algn="l"/>
            <a:r>
              <a:rPr sz="1100" b="0">
                <a:solidFill>
                  <a:srgbClr val="6B6B6B"/>
                </a:solidFill>
                <a:latin typeface="Calibri"/>
              </a:rPr>
              <a:t>Foster (1986); Teece (1986); Utterback &amp; Abernathy (1975); Microsoft Entra ID docs (2025); GDPR (2016); FERPA (US Dept. of Education).</a:t>
            </a:r>
          </a:p>
        </p:txBody>
      </p:sp>
      <p:sp>
        <p:nvSpPr>
          <p:cNvPr id="10" name="TextBox 9"/>
          <p:cNvSpPr txBox="1"/>
          <p:nvPr/>
        </p:nvSpPr>
        <p:spPr>
          <a:xfrm>
            <a:off x="411480" y="6400800"/>
            <a:ext cx="7315200" cy="228600"/>
          </a:xfrm>
          <a:prstGeom prst="rect">
            <a:avLst/>
          </a:prstGeom>
          <a:noFill/>
        </p:spPr>
        <p:txBody>
          <a:bodyPr wrap="square" anchor="t" lIns="45720" rIns="45720">
            <a:spAutoFit/>
          </a:bodyPr>
          <a:lstStyle/>
          <a:p>
            <a:pPr algn="l"/>
            <a:r>
              <a:rPr sz="900" b="0">
                <a:solidFill>
                  <a:srgbClr val="6B6B6B"/>
                </a:solidFill>
                <a:latin typeface="Calibri"/>
              </a:rPr>
              <a:t>SAAS · Individual Ideation · Johnny, Jeng-lin Li</a:t>
            </a:r>
          </a:p>
        </p:txBody>
      </p:sp>
      <p:sp>
        <p:nvSpPr>
          <p:cNvPr id="11" name="TextBox 10"/>
          <p:cNvSpPr txBox="1"/>
          <p:nvPr/>
        </p:nvSpPr>
        <p:spPr>
          <a:xfrm>
            <a:off x="10607040" y="6400800"/>
            <a:ext cx="1280160" cy="228600"/>
          </a:xfrm>
          <a:prstGeom prst="rect">
            <a:avLst/>
          </a:prstGeom>
          <a:noFill/>
        </p:spPr>
        <p:txBody>
          <a:bodyPr wrap="square" anchor="t" lIns="45720" rIns="45720">
            <a:spAutoFit/>
          </a:bodyPr>
          <a:lstStyle/>
          <a:p>
            <a:pPr algn="r"/>
            <a:r>
              <a:rPr sz="900" b="0">
                <a:solidFill>
                  <a:srgbClr val="6B6B6B"/>
                </a:solidFill>
                <a:latin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